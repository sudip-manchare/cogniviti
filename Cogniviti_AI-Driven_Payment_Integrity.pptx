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here to talk about Cogniviti, our AI-driven solution that's set to redefine payment integrity in healthcare. We're not just improving a process; we're revolutionizing how healthcare claims are reviewed. Our approach leverages advanced pattern recognition and agentic AI to bring unprecedented precision and transparency. Let's dive into the problem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healthcare industry faces a staggering challenge: a $300 billion crisis fueled by fraud, waste, and abuse. This isn't just a number; it's a massive drain on our healthcare system. Payers are overwhelmed, processing millions of claims daily, making manual review impossible to scale. And current automated systems, often 'black boxes,' create more problems than they solve, leading to provider abrasion and legal scrutiny. This problem demands a smarter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massive problem has brought us to a critical industry inflection point. We're moving rapidly from manual triage to AI adjudication, with Gartner predicting 80% of ambulatory claims will be AI-processed by 2028. But there's a significant gap: existing AI models are either accurate but unexplainable, or articulate but unreliable. This creates a near-term opportunity for Cogniviti to set the standard for explainable AI in payment integrity. We're ready to seize that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where Cogniviti comes in, offering a hybrid intelligence approach that bridges the gap between raw data and actionable insight. We combine deterministic machine learning for statistical precision, flagging anomalies based on peer groups and coding norms. Then, our agentic GenAI provides human-like reasoning, retrieving policies and explaining exactly why a claim was flagged. And critically, we've built compliance-by-design into our system, ensuring audit trails and human-in-the-loop checkpoints. This is how we deliver trust and transparency.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is built on three layers of trust, designed for both accuracy and auditability. The detection layer uses deterministic algorithms like Z-Score and Isolation Forest to compute reproducible anomaly scores. The GenAI layer then takes these numeric flags and, using RAG-powered policy retrieval, transforms them into cited, plain-English explanations. Finally, our interface layer provides a reviewer-facing dashboard that prioritizes claims and gives a clear 'Rationale + Action' for every flag. This layered approach ensures both precision and explainability.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isn't just theoretical; we've built a robust Proof of Concept that demonstrates the entire pipeline. We're not just flagging anomalies; we're explaining them with precision. This POC uses a synthetic pipeline to generate claims with seeded anomalies, ensuring reliable and repeatable demonstrations. We then leverage RAG-powered retrieval with Gemini Embeddings to match claim context to a curated CMS policy corpus. This allows us to move beyond vague alerts to natural language rationales, like "This claim exceeds peer billing norms for CPT 99214 as defined in CMS NCD 123.4." This level of detail is crucial for trust and adoption, and it leads us directly to our next point on explainability.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POC's ability to generate clear rationales, explainability isn't just a feature; it's our strategic differentiator and a regulatory imperative. Over 25 states now require documented AI oversight and explainability, with some, like Texas and California, prohibiting "black-box" denials. Cogniviti provides the "Reasoning Chain" required by law, offering a citable audit trail for every flag. This transparency reduces provider abrasion, leading to fewer appeals and better relationships. This compliance-by-design approach translates directly into significant market opportunity and ROI.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opportunity here is immense, and our explainability directly drives ROI for health plans. We're reducing time-to-results from over 90 days to under 5 days, a 94% improvement. Our automated rationale drafting allows analysts to triple their daily claim validation volume, boosting efficiency. Most importantly, we're capturing 80% of overpaid findings as actual cost savings for health plans, minimizing provider friction. These are tangible benefits that transform cost centers into value drivers, and we'll explore how to scale this impact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how we'll scale Cogniviti to market. Our strategic recommendations focus on immediate impact and long-term differentiation. First, we'll implement "Detect and Explain," pairing our current data-mining models with an AI explanation layer. This provides instant, policy-based citations for every flagged claim, moving beyond simple anomaly detection. Second, we'll build an Agentic Copilot, an analyst-first tool that drafts rationales and routes claims for human oversight. This can triple review capacity, drastically improving efficiency. Finally, we'll prioritize Compliance-as-a-Service, embedding audit logs and bias testing as core product features. This will allow us to outpace legacy competitors in the new regulatory landscape. These steps build directly on the significant ROI we just discussed, ensuring we capture maximum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how we'll capture the immense opportunity before us. Our approach is built on four pillars: expertise, innovation, governance, and vision. Our deep understanding of clinical decision-making and pattern recognition gives us unparalleled domain depth. We're leveraging leading-edge Agentic Generative AI, bridging the gap between raw data and actionable interpretation. Our commitment to human-in-the-loop systems and explainable AI is a core product feature, not an afterthought. This commitment to governance allows us to capture the $300 billion FWA opportunity without the legal exposure that plagues black-box legacy systems. We're not just building a product; we're defining the future of payment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closing, Cogniviti stands for precision detection and human explanation. We've demonstrated a clear path to revolutionize healthcare claims review. My name is Sudip Manchare, and I'm the owner and lead architect. This hackathon POC for Cotiviti's intern assessment highlights our commitment to innovation and impact.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Shape 12"/>
          <p:cNvSpPr/>
          <p:nvPr/>
        </p:nvSpPr>
        <p:spPr>
          <a:xfrm>
            <a:off x="635794" y="707231"/>
            <a:ext cx="7872413" cy="3729038"/>
          </a:xfrm>
          <a:prstGeom prst="rect">
            <a:avLst/>
          </a:prstGeom>
          <a:solidFill>
            <a:srgbClr val="000000">
              <a:alpha val="0"/>
            </a:srgbClr>
          </a:solidFill>
          <a:ln w="9144">
            <a:solidFill>
              <a:srgbClr val="102A43"/>
            </a:solidFill>
            <a:prstDash val="solid"/>
          </a:ln>
        </p:spPr>
      </p:sp>
      <p:sp>
        <p:nvSpPr>
          <p:cNvPr id="17" name="Text 13"/>
          <p:cNvSpPr/>
          <p:nvPr/>
        </p:nvSpPr>
        <p:spPr>
          <a:xfrm>
            <a:off x="1297763" y="1542827"/>
            <a:ext cx="3118247" cy="791170"/>
          </a:xfrm>
          <a:prstGeom prst="rect">
            <a:avLst/>
          </a:prstGeom>
          <a:noFill/>
          <a:ln/>
        </p:spPr>
        <p:txBody>
          <a:bodyPr wrap="square" lIns="0" tIns="0" rIns="0" bIns="0" rtlCol="0" anchor="t">
            <a:spAutoFit/>
          </a:bodyPr>
          <a:lstStyle/>
          <a:p>
            <a:pPr algn="l" indent="0" marL="0">
              <a:buNone/>
            </a:pPr>
            <a:r>
              <a:rPr lang="en-US" sz="4650" spc="-2" kern="0" dirty="0">
                <a:solidFill>
                  <a:srgbClr val="102A43"/>
                </a:solidFill>
                <a:latin typeface="Roboto Mono Medium" pitchFamily="34" charset="0"/>
                <a:ea typeface="Roboto Mono Medium" pitchFamily="34" charset="-122"/>
                <a:cs typeface="Roboto Mono Medium" pitchFamily="34" charset="-120"/>
              </a:rPr>
              <a:t>COGNIVITI</a:t>
            </a:r>
            <a:endParaRPr lang="en-US" sz="4650" dirty="0"/>
          </a:p>
        </p:txBody>
      </p:sp>
      <p:sp>
        <p:nvSpPr>
          <p:cNvPr id="18" name="Text 14"/>
          <p:cNvSpPr/>
          <p:nvPr/>
        </p:nvSpPr>
        <p:spPr>
          <a:xfrm>
            <a:off x="1297763" y="2809475"/>
            <a:ext cx="2930723" cy="276820"/>
          </a:xfrm>
          <a:prstGeom prst="rect">
            <a:avLst/>
          </a:prstGeom>
          <a:noFill/>
          <a:ln/>
        </p:spPr>
        <p:txBody>
          <a:bodyPr wrap="square" lIns="0" tIns="0" rIns="0" bIns="0" rtlCol="0" anchor="t">
            <a:spAutoFit/>
          </a:bodyPr>
          <a:lstStyle/>
          <a:p>
            <a:pPr algn="l" indent="0" marL="0">
              <a:buNone/>
            </a:pPr>
            <a:r>
              <a:rPr lang="en-US" sz="1700" dirty="0">
                <a:solidFill>
                  <a:srgbClr val="1992D4"/>
                </a:solidFill>
                <a:latin typeface="Inter Light" pitchFamily="34" charset="0"/>
                <a:ea typeface="Inter Light" pitchFamily="34" charset="-122"/>
                <a:cs typeface="Inter Light" pitchFamily="34" charset="-120"/>
              </a:rPr>
              <a:t>AI-Driven Payment Integrity</a:t>
            </a:r>
            <a:endParaRPr lang="en-US" sz="1700" dirty="0"/>
          </a:p>
        </p:txBody>
      </p:sp>
      <p:sp>
        <p:nvSpPr>
          <p:cNvPr id="19" name="Text 15"/>
          <p:cNvSpPr/>
          <p:nvPr/>
        </p:nvSpPr>
        <p:spPr>
          <a:xfrm>
            <a:off x="1297763" y="3314895"/>
            <a:ext cx="428625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34E68"/>
                </a:solidFill>
                <a:latin typeface="Inter Light" pitchFamily="34" charset="0"/>
                <a:ea typeface="Inter Light" pitchFamily="34" charset="-122"/>
                <a:cs typeface="Inter Light" pitchFamily="34" charset="-120"/>
              </a:rPr>
              <a:t>Revolutionizing Healthcare Claims Review with Pattern Recognition &amp; Agentic AI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THE $300 BILLION CRISIS</a:t>
            </a:r>
            <a:endParaRPr lang="en-US" sz="2600" dirty="0"/>
          </a:p>
        </p:txBody>
      </p:sp>
      <p:sp>
        <p:nvSpPr>
          <p:cNvPr id="17" name="Text 13"/>
          <p:cNvSpPr/>
          <p:nvPr/>
        </p:nvSpPr>
        <p:spPr>
          <a:xfrm>
            <a:off x="650081" y="1387673"/>
            <a:ext cx="3629025" cy="369689"/>
          </a:xfrm>
          <a:prstGeom prst="rect">
            <a:avLst/>
          </a:prstGeom>
          <a:noFill/>
          <a:ln/>
        </p:spPr>
        <p:txBody>
          <a:bodyPr wrap="square" lIns="0" tIns="170053" rIns="0" bIns="0" rtlCol="0" anchor="t">
            <a:spAutoFit/>
          </a:bodyPr>
          <a:lstStyle/>
          <a:p>
            <a:pPr algn="l" indent="0" marL="0">
              <a:buNone/>
            </a:pPr>
            <a:r>
              <a:rPr lang="en-US" sz="1250" dirty="0">
                <a:solidFill>
                  <a:srgbClr val="D64545"/>
                </a:solidFill>
                <a:latin typeface="Roboto Mono Medium" pitchFamily="34" charset="0"/>
                <a:ea typeface="Roboto Mono Medium" pitchFamily="34" charset="-122"/>
                <a:cs typeface="Roboto Mono Medium" pitchFamily="34" charset="-120"/>
              </a:rPr>
              <a:t>FWA IMPACT</a:t>
            </a:r>
            <a:endParaRPr lang="en-US" sz="1250" dirty="0"/>
          </a:p>
        </p:txBody>
      </p:sp>
      <p:sp>
        <p:nvSpPr>
          <p:cNvPr id="18" name="Text 14"/>
          <p:cNvSpPr/>
          <p:nvPr/>
        </p:nvSpPr>
        <p:spPr>
          <a:xfrm>
            <a:off x="650081" y="1885950"/>
            <a:ext cx="3629025"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Fraud, Waste, and Abuse account for 3% to 10% of total U.S. healthcare spending annually.</a:t>
            </a:r>
            <a:endParaRPr lang="en-US" sz="950" dirty="0"/>
          </a:p>
        </p:txBody>
      </p:sp>
      <p:sp>
        <p:nvSpPr>
          <p:cNvPr id="19" name="Text 15"/>
          <p:cNvSpPr/>
          <p:nvPr/>
        </p:nvSpPr>
        <p:spPr>
          <a:xfrm>
            <a:off x="650081" y="2388859"/>
            <a:ext cx="3629025" cy="369689"/>
          </a:xfrm>
          <a:prstGeom prst="rect">
            <a:avLst/>
          </a:prstGeom>
          <a:noFill/>
          <a:ln/>
        </p:spPr>
        <p:txBody>
          <a:bodyPr wrap="square" lIns="0" tIns="170053" rIns="0" bIns="0" rtlCol="0" anchor="t">
            <a:spAutoFit/>
          </a:bodyPr>
          <a:lstStyle/>
          <a:p>
            <a:pPr algn="l" indent="0" marL="0">
              <a:buNone/>
            </a:pPr>
            <a:r>
              <a:rPr lang="en-US" sz="1250" dirty="0">
                <a:solidFill>
                  <a:srgbClr val="D64545"/>
                </a:solidFill>
                <a:latin typeface="Roboto Mono Medium" pitchFamily="34" charset="0"/>
                <a:ea typeface="Roboto Mono Medium" pitchFamily="34" charset="-122"/>
                <a:cs typeface="Roboto Mono Medium" pitchFamily="34" charset="-120"/>
              </a:rPr>
              <a:t>THE BOTTLENECK</a:t>
            </a:r>
            <a:endParaRPr lang="en-US" sz="1250" dirty="0"/>
          </a:p>
        </p:txBody>
      </p:sp>
      <p:sp>
        <p:nvSpPr>
          <p:cNvPr id="20" name="Text 16"/>
          <p:cNvSpPr/>
          <p:nvPr/>
        </p:nvSpPr>
        <p:spPr>
          <a:xfrm>
            <a:off x="650081" y="2887135"/>
            <a:ext cx="3629025"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Payers process millions of claims daily. Manual review is impossible to scale, leading to massive financial leakage.</a:t>
            </a:r>
            <a:endParaRPr lang="en-US" sz="950" dirty="0"/>
          </a:p>
        </p:txBody>
      </p:sp>
      <p:sp>
        <p:nvSpPr>
          <p:cNvPr id="21" name="Text 17"/>
          <p:cNvSpPr/>
          <p:nvPr/>
        </p:nvSpPr>
        <p:spPr>
          <a:xfrm>
            <a:off x="650081" y="3390044"/>
            <a:ext cx="3629025" cy="369689"/>
          </a:xfrm>
          <a:prstGeom prst="rect">
            <a:avLst/>
          </a:prstGeom>
          <a:noFill/>
          <a:ln/>
        </p:spPr>
        <p:txBody>
          <a:bodyPr wrap="square" lIns="0" tIns="170053" rIns="0" bIns="0" rtlCol="0" anchor="t">
            <a:spAutoFit/>
          </a:bodyPr>
          <a:lstStyle/>
          <a:p>
            <a:pPr algn="l" indent="0" marL="0">
              <a:buNone/>
            </a:pPr>
            <a:r>
              <a:rPr lang="en-US" sz="1250" dirty="0">
                <a:solidFill>
                  <a:srgbClr val="D64545"/>
                </a:solidFill>
                <a:latin typeface="Roboto Mono Medium" pitchFamily="34" charset="0"/>
                <a:ea typeface="Roboto Mono Medium" pitchFamily="34" charset="-122"/>
                <a:cs typeface="Roboto Mono Medium" pitchFamily="34" charset="-120"/>
              </a:rPr>
              <a:t>THE RISK</a:t>
            </a:r>
            <a:endParaRPr lang="en-US" sz="1250" dirty="0"/>
          </a:p>
        </p:txBody>
      </p:sp>
      <p:sp>
        <p:nvSpPr>
          <p:cNvPr id="22" name="Text 18"/>
          <p:cNvSpPr/>
          <p:nvPr/>
        </p:nvSpPr>
        <p:spPr>
          <a:xfrm>
            <a:off x="650081" y="3888321"/>
            <a:ext cx="3629025"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"Black-box" automated systems cause provider abrasion and face increasing legal scrutiny from 25+ states.</a:t>
            </a:r>
            <a:endParaRPr lang="en-US" sz="950" dirty="0"/>
          </a:p>
        </p:txBody>
      </p:sp>
      <p:sp>
        <p:nvSpPr>
          <p:cNvPr id="23" name="Text 19"/>
          <p:cNvSpPr/>
          <p:nvPr/>
        </p:nvSpPr>
        <p:spPr>
          <a:xfrm>
            <a:off x="4864894" y="1387673"/>
            <a:ext cx="3629025" cy="369689"/>
          </a:xfrm>
          <a:prstGeom prst="rect">
            <a:avLst/>
          </a:prstGeom>
          <a:noFill/>
          <a:ln/>
        </p:spPr>
        <p:txBody>
          <a:bodyPr wrap="square" lIns="0" tIns="170053" rIns="0" bIns="0" rtlCol="0" anchor="t">
            <a:spAutoFit/>
          </a:bodyPr>
          <a:lstStyle/>
          <a:p>
            <a:pPr algn="l" indent="0" marL="0">
              <a:buNone/>
            </a:pPr>
            <a:r>
              <a:rPr lang="en-US" sz="1250" dirty="0">
                <a:solidFill>
                  <a:srgbClr val="D64545"/>
                </a:solidFill>
                <a:latin typeface="Roboto Mono Medium" pitchFamily="34" charset="0"/>
                <a:ea typeface="Roboto Mono Medium" pitchFamily="34" charset="-122"/>
                <a:cs typeface="Roboto Mono Medium" pitchFamily="34" charset="-120"/>
              </a:rPr>
              <a:t>ANNUAL LOSS (BILLION USD)</a:t>
            </a:r>
            <a:endParaRPr lang="en-US" sz="1250" dirty="0"/>
          </a:p>
        </p:txBody>
      </p:sp>
      <p:pic>
        <p:nvPicPr>
          <p:cNvPr id="24" name="Image 1" descr="preencoded.png">    </p:cNvPr>
          <p:cNvPicPr>
            <a:picLocks noChangeAspect="1"/>
          </p:cNvPicPr>
          <p:nvPr/>
        </p:nvPicPr>
        <p:blipFill>
          <a:blip r:embed="rId2"/>
          <a:stretch>
            <a:fillRect/>
          </a:stretch>
        </p:blipFill>
        <p:spPr>
          <a:xfrm>
            <a:off x="4864894" y="1971675"/>
            <a:ext cx="3629025" cy="2143125"/>
          </a:xfrm>
          <a:prstGeom prst="rect">
            <a:avLst/>
          </a:prstGeom>
        </p:spPr>
      </p:pic>
      <p:sp>
        <p:nvSpPr>
          <p:cNvPr id="25" name="Text 20"/>
          <p:cNvSpPr/>
          <p:nvPr/>
        </p:nvSpPr>
        <p:spPr>
          <a:xfrm>
            <a:off x="4864894" y="4214813"/>
            <a:ext cx="3629025" cy="140001"/>
          </a:xfrm>
          <a:prstGeom prst="rect">
            <a:avLst/>
          </a:prstGeom>
          <a:noFill/>
          <a:ln/>
        </p:spPr>
        <p:txBody>
          <a:bodyPr wrap="none" lIns="0" tIns="0" rIns="0" bIns="0" rtlCol="0" anchor="t">
            <a:spAutoFit/>
          </a:bodyPr>
          <a:lstStyle/>
          <a:p>
            <a:pPr algn="l" indent="0" marL="0">
              <a:lnSpc>
                <a:spcPct val="112000"/>
              </a:lnSpc>
              <a:buNone/>
            </a:pPr>
            <a:r>
              <a:rPr lang="en-US" sz="750" i="1" dirty="0">
                <a:solidFill>
                  <a:srgbClr val="102A43"/>
                </a:solidFill>
                <a:latin typeface="Inter" pitchFamily="34" charset="0"/>
                <a:ea typeface="Inter" pitchFamily="34" charset="-122"/>
                <a:cs typeface="Inter" pitchFamily="34" charset="-120"/>
              </a:rPr>
              <a:t>*Estimated annual loss due to healthcare FWA.</a:t>
            </a:r>
            <a:endParaRPr lang="en-US" sz="750" dirty="0"/>
          </a:p>
        </p:txBody>
      </p:sp>
      <p:sp>
        <p:nvSpPr>
          <p:cNvPr id="26" name="Text 21"/>
          <p:cNvSpPr/>
          <p:nvPr/>
        </p:nvSpPr>
        <p:spPr>
          <a:xfrm>
            <a:off x="0" y="4504832"/>
            <a:ext cx="9144000" cy="398264"/>
          </a:xfrm>
          <a:prstGeom prst="rect">
            <a:avLst/>
          </a:prstGeom>
          <a:noFill/>
          <a:ln/>
        </p:spPr>
        <p:txBody>
          <a:bodyPr wrap="square" lIns="510286" tIns="340233" rIns="0" bIns="0" rtlCol="0" anchor="t">
            <a:spAutoFit/>
          </a:bodyPr>
          <a:lstStyle/>
          <a:p>
            <a:pPr algn="l" indent="0" marL="0">
              <a:buNone/>
            </a:pPr>
            <a:r>
              <a:rPr lang="en-US" sz="600" dirty="0">
                <a:solidFill>
                  <a:srgbClr val="102A43">
                    <a:alpha val="50000"/>
                  </a:srgbClr>
                </a:solidFill>
                <a:latin typeface="Roboto Mono Medium" pitchFamily="34" charset="0"/>
                <a:ea typeface="Roboto Mono Medium" pitchFamily="34" charset="-122"/>
                <a:cs typeface="Roboto Mono Medium" pitchFamily="34" charset="-120"/>
              </a:rPr>
              <a:t>SOURCE: NHCAA &amp; COGNIVITI RESEARCH 2026</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INDUSTRY INFLECTION POINT</a:t>
            </a:r>
            <a:endParaRPr lang="en-US" sz="2600" dirty="0"/>
          </a:p>
        </p:txBody>
      </p:sp>
      <p:sp>
        <p:nvSpPr>
          <p:cNvPr id="17" name="Shape 13"/>
          <p:cNvSpPr/>
          <p:nvPr/>
        </p:nvSpPr>
        <p:spPr>
          <a:xfrm>
            <a:off x="578644" y="1137642"/>
            <a:ext cx="450056" cy="169664"/>
          </a:xfrm>
          <a:prstGeom prst="rect">
            <a:avLst/>
          </a:prstGeom>
          <a:solidFill>
            <a:srgbClr val="F0F4F8"/>
          </a:solidFill>
          <a:ln/>
        </p:spPr>
      </p:sp>
      <p:sp>
        <p:nvSpPr>
          <p:cNvPr id="18" name="Text 14"/>
          <p:cNvSpPr/>
          <p:nvPr/>
        </p:nvSpPr>
        <p:spPr>
          <a:xfrm>
            <a:off x="578644" y="1137642"/>
            <a:ext cx="450056" cy="169664"/>
          </a:xfrm>
          <a:prstGeom prst="rect">
            <a:avLst/>
          </a:prstGeom>
          <a:noFill/>
          <a:ln/>
        </p:spPr>
        <p:txBody>
          <a:bodyPr wrap="none" lIns="85090" tIns="0" rIns="85090" bIns="0" rtlCol="0" anchor="t">
            <a:spAutoFit/>
          </a:bodyPr>
          <a:lstStyle/>
          <a:p>
            <a:pPr algn="l" indent="0" marL="0">
              <a:buNone/>
            </a:pPr>
            <a:r>
              <a:rPr lang="en-US" sz="950" dirty="0">
                <a:solidFill>
                  <a:srgbClr val="D64545"/>
                </a:solidFill>
                <a:latin typeface="Roboto Mono Medium" pitchFamily="34" charset="0"/>
                <a:ea typeface="Roboto Mono Medium" pitchFamily="34" charset="-122"/>
                <a:cs typeface="Roboto Mono Medium" pitchFamily="34" charset="-120"/>
              </a:rPr>
              <a:t>2024</a:t>
            </a:r>
            <a:endParaRPr lang="en-US" sz="950" dirty="0"/>
          </a:p>
        </p:txBody>
      </p:sp>
      <p:sp>
        <p:nvSpPr>
          <p:cNvPr id="19" name="Text 15"/>
          <p:cNvSpPr/>
          <p:nvPr/>
        </p:nvSpPr>
        <p:spPr>
          <a:xfrm>
            <a:off x="614363" y="1601400"/>
            <a:ext cx="2247881" cy="298252"/>
          </a:xfrm>
          <a:prstGeom prst="rect">
            <a:avLst/>
          </a:prstGeom>
          <a:noFill/>
          <a:ln/>
        </p:spPr>
        <p:txBody>
          <a:bodyPr wrap="square" lIns="0" tIns="8509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MANUAL TRIAGE</a:t>
            </a:r>
            <a:endParaRPr lang="en-US" sz="1200" dirty="0"/>
          </a:p>
        </p:txBody>
      </p:sp>
      <p:sp>
        <p:nvSpPr>
          <p:cNvPr id="20" name="Text 16"/>
          <p:cNvSpPr/>
          <p:nvPr/>
        </p:nvSpPr>
        <p:spPr>
          <a:xfrm>
            <a:off x="614363" y="2042526"/>
            <a:ext cx="2247881"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Legacy systems rely on manual </a:t>
            </a:r>
            <a:r>
              <a:rPr lang="en-US" sz="950" dirty="0">
                <a:solidFill>
                  <a:srgbClr val="334E68"/>
                </a:solidFill>
                <a:latin typeface="Inter Light" pitchFamily="34" charset="0"/>
                <a:ea typeface="Inter Light" pitchFamily="34" charset="-122"/>
                <a:cs typeface="Inter Light" pitchFamily="34" charset="-120"/>
              </a:rPr>
              <a:t>investigation review. High </a:t>
            </a:r>
            <a:r>
              <a:rPr lang="en-US" sz="950" dirty="0">
                <a:solidFill>
                  <a:srgbClr val="334E68"/>
                </a:solidFill>
                <a:latin typeface="Inter Light" pitchFamily="34" charset="0"/>
                <a:ea typeface="Inter Light" pitchFamily="34" charset="-122"/>
                <a:cs typeface="Inter Light" pitchFamily="34" charset="-120"/>
              </a:rPr>
              <a:t>administrative cost and </a:t>
            </a:r>
            <a:r>
              <a:rPr lang="en-US" sz="950" dirty="0">
                <a:solidFill>
                  <a:srgbClr val="1992D4"/>
                </a:solidFill>
                <a:latin typeface="Inter Light" pitchFamily="34" charset="0"/>
                <a:ea typeface="Inter Light" pitchFamily="34" charset="-122"/>
                <a:cs typeface="Inter Light" pitchFamily="34" charset="-120"/>
              </a:rPr>
              <a:t>low </a:t>
            </a:r>
            <a:r>
              <a:rPr lang="en-US" sz="950" dirty="0">
                <a:solidFill>
                  <a:srgbClr val="1992D4"/>
                </a:solidFill>
                <a:latin typeface="Inter Light" pitchFamily="34" charset="0"/>
                <a:ea typeface="Inter Light" pitchFamily="34" charset="-122"/>
                <a:cs typeface="Inter Light" pitchFamily="34" charset="-120"/>
              </a:rPr>
              <a:t>scalability</a:t>
            </a:r>
            <a:r>
              <a:rPr lang="en-US" sz="950" dirty="0">
                <a:solidFill>
                  <a:srgbClr val="334E68"/>
                </a:solidFill>
                <a:latin typeface="Inter Light" pitchFamily="34" charset="0"/>
                <a:ea typeface="Inter Light" pitchFamily="34" charset="-122"/>
                <a:cs typeface="Inter Light" pitchFamily="34" charset="-120"/>
              </a:rPr>
              <a:t>.</a:t>
            </a:r>
            <a:endParaRPr lang="en-US" sz="950" dirty="0"/>
          </a:p>
        </p:txBody>
      </p:sp>
      <p:sp>
        <p:nvSpPr>
          <p:cNvPr id="21" name="Shape 17"/>
          <p:cNvSpPr/>
          <p:nvPr/>
        </p:nvSpPr>
        <p:spPr>
          <a:xfrm>
            <a:off x="3412313" y="1137642"/>
            <a:ext cx="450056" cy="169664"/>
          </a:xfrm>
          <a:prstGeom prst="rect">
            <a:avLst/>
          </a:prstGeom>
          <a:solidFill>
            <a:srgbClr val="F0F4F8"/>
          </a:solidFill>
          <a:ln/>
        </p:spPr>
      </p:sp>
      <p:sp>
        <p:nvSpPr>
          <p:cNvPr id="22" name="Text 18"/>
          <p:cNvSpPr/>
          <p:nvPr/>
        </p:nvSpPr>
        <p:spPr>
          <a:xfrm>
            <a:off x="3412313" y="1137642"/>
            <a:ext cx="450056" cy="169664"/>
          </a:xfrm>
          <a:prstGeom prst="rect">
            <a:avLst/>
          </a:prstGeom>
          <a:noFill/>
          <a:ln/>
        </p:spPr>
        <p:txBody>
          <a:bodyPr wrap="none" lIns="85090" tIns="0" rIns="85090" bIns="0" rtlCol="0" anchor="t">
            <a:spAutoFit/>
          </a:bodyPr>
          <a:lstStyle/>
          <a:p>
            <a:pPr algn="l" indent="0" marL="0">
              <a:buNone/>
            </a:pPr>
            <a:r>
              <a:rPr lang="en-US" sz="950" dirty="0">
                <a:solidFill>
                  <a:srgbClr val="D64545"/>
                </a:solidFill>
                <a:latin typeface="Roboto Mono Medium" pitchFamily="34" charset="0"/>
                <a:ea typeface="Roboto Mono Medium" pitchFamily="34" charset="-122"/>
                <a:cs typeface="Roboto Mono Medium" pitchFamily="34" charset="-120"/>
              </a:rPr>
              <a:t>2026</a:t>
            </a:r>
            <a:endParaRPr lang="en-US" sz="950" dirty="0"/>
          </a:p>
        </p:txBody>
      </p:sp>
      <p:sp>
        <p:nvSpPr>
          <p:cNvPr id="23" name="Text 19"/>
          <p:cNvSpPr/>
          <p:nvPr/>
        </p:nvSpPr>
        <p:spPr>
          <a:xfrm>
            <a:off x="3448031" y="1601400"/>
            <a:ext cx="2247909" cy="298252"/>
          </a:xfrm>
          <a:prstGeom prst="rect">
            <a:avLst/>
          </a:prstGeom>
          <a:noFill/>
          <a:ln/>
        </p:spPr>
        <p:txBody>
          <a:bodyPr wrap="square" lIns="0" tIns="8509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AI ADJUDICATION</a:t>
            </a:r>
            <a:endParaRPr lang="en-US" sz="1200" dirty="0"/>
          </a:p>
        </p:txBody>
      </p:sp>
      <p:sp>
        <p:nvSpPr>
          <p:cNvPr id="24" name="Text 20"/>
          <p:cNvSpPr/>
          <p:nvPr/>
        </p:nvSpPr>
        <p:spPr>
          <a:xfrm>
            <a:off x="3448031" y="2042526"/>
            <a:ext cx="2247909"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Gartner forecasts that by 2028, </a:t>
            </a:r>
            <a:r>
              <a:rPr lang="en-US" sz="950" dirty="0">
                <a:solidFill>
                  <a:srgbClr val="1992D4"/>
                </a:solidFill>
                <a:latin typeface="Inter Light" pitchFamily="34" charset="0"/>
                <a:ea typeface="Inter Light" pitchFamily="34" charset="-122"/>
                <a:cs typeface="Inter Light" pitchFamily="34" charset="-120"/>
              </a:rPr>
              <a:t>80% </a:t>
            </a:r>
            <a:r>
              <a:rPr lang="en-US" sz="950" dirty="0">
                <a:solidFill>
                  <a:srgbClr val="1992D4"/>
                </a:solidFill>
                <a:latin typeface="Inter Light" pitchFamily="34" charset="0"/>
                <a:ea typeface="Inter Light" pitchFamily="34" charset="-122"/>
                <a:cs typeface="Inter Light" pitchFamily="34" charset="-120"/>
              </a:rPr>
              <a:t>of ambulatory claims</a:t>
            </a:r>
            <a:r>
              <a:rPr lang="en-US" sz="950" dirty="0">
                <a:solidFill>
                  <a:srgbClr val="334E68"/>
                </a:solidFill>
                <a:latin typeface="Inter Light" pitchFamily="34" charset="0"/>
                <a:ea typeface="Inter Light" pitchFamily="34" charset="-122"/>
                <a:cs typeface="Inter Light" pitchFamily="34" charset="-120"/>
              </a:rPr>
              <a:t> will move </a:t>
            </a:r>
            <a:r>
              <a:rPr lang="en-US" sz="950" dirty="0">
                <a:solidFill>
                  <a:srgbClr val="334E68"/>
                </a:solidFill>
                <a:latin typeface="Inter Light" pitchFamily="34" charset="0"/>
                <a:ea typeface="Inter Light" pitchFamily="34" charset="-122"/>
                <a:cs typeface="Inter Light" pitchFamily="34" charset="-120"/>
              </a:rPr>
              <a:t>through AI-enabled, real-time </a:t>
            </a:r>
            <a:r>
              <a:rPr lang="en-US" sz="950" dirty="0">
                <a:solidFill>
                  <a:srgbClr val="334E68"/>
                </a:solidFill>
                <a:latin typeface="Inter Light" pitchFamily="34" charset="0"/>
                <a:ea typeface="Inter Light" pitchFamily="34" charset="-122"/>
                <a:cs typeface="Inter Light" pitchFamily="34" charset="-120"/>
              </a:rPr>
              <a:t>adjudication.</a:t>
            </a:r>
            <a:endParaRPr lang="en-US" sz="950" dirty="0"/>
          </a:p>
        </p:txBody>
      </p:sp>
      <p:sp>
        <p:nvSpPr>
          <p:cNvPr id="25" name="Shape 21"/>
          <p:cNvSpPr/>
          <p:nvPr/>
        </p:nvSpPr>
        <p:spPr>
          <a:xfrm>
            <a:off x="6246009" y="1137642"/>
            <a:ext cx="526852" cy="169664"/>
          </a:xfrm>
          <a:prstGeom prst="rect">
            <a:avLst/>
          </a:prstGeom>
          <a:solidFill>
            <a:srgbClr val="F0F4F8"/>
          </a:solidFill>
          <a:ln/>
        </p:spPr>
      </p:sp>
      <p:sp>
        <p:nvSpPr>
          <p:cNvPr id="26" name="Text 22"/>
          <p:cNvSpPr/>
          <p:nvPr/>
        </p:nvSpPr>
        <p:spPr>
          <a:xfrm>
            <a:off x="6246009" y="1137642"/>
            <a:ext cx="526852" cy="169664"/>
          </a:xfrm>
          <a:prstGeom prst="rect">
            <a:avLst/>
          </a:prstGeom>
          <a:noFill/>
          <a:ln/>
        </p:spPr>
        <p:txBody>
          <a:bodyPr wrap="none" lIns="85090" tIns="0" rIns="85090" bIns="0" rtlCol="0" anchor="t">
            <a:spAutoFit/>
          </a:bodyPr>
          <a:lstStyle/>
          <a:p>
            <a:pPr algn="l" indent="0" marL="0">
              <a:buNone/>
            </a:pPr>
            <a:r>
              <a:rPr lang="en-US" sz="950" dirty="0">
                <a:solidFill>
                  <a:srgbClr val="D64545"/>
                </a:solidFill>
                <a:latin typeface="Roboto Mono Medium" pitchFamily="34" charset="0"/>
                <a:ea typeface="Roboto Mono Medium" pitchFamily="34" charset="-122"/>
                <a:cs typeface="Roboto Mono Medium" pitchFamily="34" charset="-120"/>
              </a:rPr>
              <a:t>2028+</a:t>
            </a:r>
            <a:endParaRPr lang="en-US" sz="950" dirty="0"/>
          </a:p>
        </p:txBody>
      </p:sp>
      <p:sp>
        <p:nvSpPr>
          <p:cNvPr id="27" name="Text 23"/>
          <p:cNvSpPr/>
          <p:nvPr/>
        </p:nvSpPr>
        <p:spPr>
          <a:xfrm>
            <a:off x="6281728" y="1601400"/>
            <a:ext cx="2247881" cy="298252"/>
          </a:xfrm>
          <a:prstGeom prst="rect">
            <a:avLst/>
          </a:prstGeom>
          <a:noFill/>
          <a:ln/>
        </p:spPr>
        <p:txBody>
          <a:bodyPr wrap="square" lIns="0" tIns="8509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EXPLAINABLE AI</a:t>
            </a:r>
            <a:endParaRPr lang="en-US" sz="1200" dirty="0"/>
          </a:p>
        </p:txBody>
      </p:sp>
      <p:sp>
        <p:nvSpPr>
          <p:cNvPr id="28" name="Text 24"/>
          <p:cNvSpPr/>
          <p:nvPr/>
        </p:nvSpPr>
        <p:spPr>
          <a:xfrm>
            <a:off x="6281728" y="2042526"/>
            <a:ext cx="2247881"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The market gap: Existing models are </a:t>
            </a:r>
            <a:r>
              <a:rPr lang="en-US" sz="950" dirty="0">
                <a:solidFill>
                  <a:srgbClr val="334E68"/>
                </a:solidFill>
                <a:latin typeface="Inter Light" pitchFamily="34" charset="0"/>
                <a:ea typeface="Inter Light" pitchFamily="34" charset="-122"/>
                <a:cs typeface="Inter Light" pitchFamily="34" charset="-120"/>
              </a:rPr>
              <a:t>either accurate but unexplainable or </a:t>
            </a:r>
            <a:r>
              <a:rPr lang="en-US" sz="950" dirty="0">
                <a:solidFill>
                  <a:srgbClr val="334E68"/>
                </a:solidFill>
                <a:latin typeface="Inter Light" pitchFamily="34" charset="0"/>
                <a:ea typeface="Inter Light" pitchFamily="34" charset="-122"/>
                <a:cs typeface="Inter Light" pitchFamily="34" charset="-120"/>
              </a:rPr>
              <a:t>articulate but unreliable. Cogniviti fills </a:t>
            </a:r>
            <a:r>
              <a:rPr lang="en-US" sz="950" dirty="0">
                <a:solidFill>
                  <a:srgbClr val="334E68"/>
                </a:solidFill>
                <a:latin typeface="Inter Light" pitchFamily="34" charset="0"/>
                <a:ea typeface="Inter Light" pitchFamily="34" charset="-122"/>
                <a:cs typeface="Inter Light" pitchFamily="34" charset="-120"/>
              </a:rPr>
              <a:t>this </a:t>
            </a:r>
            <a:r>
              <a:rPr lang="en-US" sz="950" dirty="0">
                <a:solidFill>
                  <a:srgbClr val="1992D4"/>
                </a:solidFill>
                <a:latin typeface="Inter Light" pitchFamily="34" charset="0"/>
                <a:ea typeface="Inter Light" pitchFamily="34" charset="-122"/>
                <a:cs typeface="Inter Light" pitchFamily="34" charset="-120"/>
              </a:rPr>
              <a:t>critical gap</a:t>
            </a:r>
            <a:r>
              <a:rPr lang="en-US" sz="950" dirty="0">
                <a:solidFill>
                  <a:srgbClr val="334E68"/>
                </a:solidFill>
                <a:latin typeface="Inter Light" pitchFamily="34" charset="0"/>
                <a:ea typeface="Inter Light" pitchFamily="34" charset="-122"/>
                <a:cs typeface="Inter Light" pitchFamily="34" charset="-120"/>
              </a:rPr>
              <a:t>.</a:t>
            </a:r>
            <a:endParaRPr lang="en-US" sz="950" dirty="0"/>
          </a:p>
        </p:txBody>
      </p:sp>
      <p:sp>
        <p:nvSpPr>
          <p:cNvPr id="29" name="Text 25"/>
          <p:cNvSpPr/>
          <p:nvPr/>
        </p:nvSpPr>
        <p:spPr>
          <a:xfrm>
            <a:off x="0" y="4180880"/>
            <a:ext cx="9144000" cy="541139"/>
          </a:xfrm>
          <a:prstGeom prst="rect">
            <a:avLst/>
          </a:prstGeom>
          <a:noFill/>
          <a:ln/>
        </p:spPr>
        <p:txBody>
          <a:bodyPr wrap="square" lIns="510286" tIns="510286" rIns="0" bIns="0" rtlCol="0" anchor="t">
            <a:spAutoFit/>
          </a:bodyPr>
          <a:lstStyle/>
          <a:p>
            <a:pPr algn="l" indent="0" marL="0">
              <a:buNone/>
            </a:pPr>
            <a:r>
              <a:rPr lang="en-US" sz="600" dirty="0">
                <a:solidFill>
                  <a:srgbClr val="102A43">
                    <a:alpha val="50000"/>
                  </a:srgbClr>
                </a:solidFill>
                <a:latin typeface="Roboto Mono Medium" pitchFamily="34" charset="0"/>
                <a:ea typeface="Roboto Mono Medium" pitchFamily="34" charset="-122"/>
                <a:cs typeface="Roboto Mono Medium" pitchFamily="34" charset="-120"/>
              </a:rPr>
              <a:t>SOURCE: GARTNER &amp; COGNIVITI MARKET ANALYSIS 2026</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INTRODUCING COGNIVITI</a:t>
            </a:r>
            <a:endParaRPr lang="en-US" sz="2600" dirty="0"/>
          </a:p>
        </p:txBody>
      </p:sp>
      <p:sp>
        <p:nvSpPr>
          <p:cNvPr id="17" name="Text 13"/>
          <p:cNvSpPr/>
          <p:nvPr/>
        </p:nvSpPr>
        <p:spPr>
          <a:xfrm>
            <a:off x="650081" y="1523405"/>
            <a:ext cx="7843838" cy="480027"/>
          </a:xfrm>
          <a:prstGeom prst="rect">
            <a:avLst/>
          </a:prstGeom>
          <a:noFill/>
          <a:ln/>
        </p:spPr>
        <p:txBody>
          <a:bodyPr wrap="square" lIns="0" tIns="0" rIns="0" bIns="0" rtlCol="0" anchor="t">
            <a:spAutoFit/>
          </a:bodyPr>
          <a:lstStyle/>
          <a:p>
            <a:pPr algn="l" indent="0" marL="0">
              <a:lnSpc>
                <a:spcPct val="112000"/>
              </a:lnSpc>
              <a:buNone/>
            </a:pPr>
            <a:r>
              <a:rPr lang="en-US" sz="1250" dirty="0">
                <a:solidFill>
                  <a:srgbClr val="102A43"/>
                </a:solidFill>
                <a:latin typeface="Inter Light" pitchFamily="34" charset="0"/>
                <a:ea typeface="Inter Light" pitchFamily="34" charset="-122"/>
                <a:cs typeface="Inter Light" pitchFamily="34" charset="-120"/>
              </a:rPr>
              <a:t>Cogniviti bridges the gap between raw data and actionable insight by combining </a:t>
            </a:r>
            <a:r>
              <a:rPr lang="en-US" sz="1200" b="1" dirty="0">
                <a:solidFill>
                  <a:srgbClr val="102A43"/>
                </a:solidFill>
                <a:latin typeface="Inter Light" pitchFamily="34" charset="0"/>
                <a:ea typeface="Inter Light" pitchFamily="34" charset="-122"/>
                <a:cs typeface="Inter Light" pitchFamily="34" charset="-120"/>
              </a:rPr>
              <a:t>Deterministic ML</a:t>
            </a:r>
            <a:r>
              <a:rPr lang="en-US" sz="1250" dirty="0">
                <a:solidFill>
                  <a:srgbClr val="102A43"/>
                </a:solidFill>
                <a:latin typeface="Inter Light" pitchFamily="34" charset="0"/>
                <a:ea typeface="Inter Light" pitchFamily="34" charset="-122"/>
                <a:cs typeface="Inter Light" pitchFamily="34" charset="-120"/>
              </a:rPr>
              <a:t> with </a:t>
            </a:r>
            <a:r>
              <a:rPr lang="en-US" sz="1200" b="1" dirty="0">
                <a:solidFill>
                  <a:srgbClr val="102A43"/>
                </a:solidFill>
                <a:latin typeface="Inter Light" pitchFamily="34" charset="0"/>
                <a:ea typeface="Inter Light" pitchFamily="34" charset="-122"/>
                <a:cs typeface="Inter Light" pitchFamily="34" charset="-120"/>
              </a:rPr>
              <a:t>Agentic GenAI</a:t>
            </a:r>
            <a:r>
              <a:rPr lang="en-US" sz="1250" dirty="0">
                <a:solidFill>
                  <a:srgbClr val="102A43"/>
                </a:solidFill>
                <a:latin typeface="Inter Light" pitchFamily="34" charset="0"/>
                <a:ea typeface="Inter Light" pitchFamily="34" charset="-122"/>
                <a:cs typeface="Inter Light" pitchFamily="34" charset="-120"/>
              </a:rPr>
              <a:t> for a complete "Hybrid Intelligence" approach.</a:t>
            </a:r>
            <a:endParaRPr lang="en-US" sz="1250" dirty="0"/>
          </a:p>
        </p:txBody>
      </p:sp>
      <p:sp>
        <p:nvSpPr>
          <p:cNvPr id="18" name="Text 14"/>
          <p:cNvSpPr/>
          <p:nvPr/>
        </p:nvSpPr>
        <p:spPr>
          <a:xfrm>
            <a:off x="614363" y="2853984"/>
            <a:ext cx="2295516" cy="278606"/>
          </a:xfrm>
          <a:prstGeom prst="rect">
            <a:avLst/>
          </a:prstGeom>
          <a:noFill/>
          <a:ln/>
        </p:spPr>
        <p:txBody>
          <a:bodyPr wrap="square" lIns="0" tIns="85090" rIns="0" bIns="0" rtlCol="0" anchor="t">
            <a:spAutoFit/>
          </a:bodyPr>
          <a:lstStyle/>
          <a:p>
            <a:pPr algn="l" indent="0" marL="0">
              <a:buNone/>
            </a:pPr>
            <a:r>
              <a:rPr lang="en-US" sz="1150" dirty="0">
                <a:solidFill>
                  <a:srgbClr val="1992D4"/>
                </a:solidFill>
                <a:latin typeface="Roboto Mono Medium" pitchFamily="34" charset="0"/>
                <a:ea typeface="Roboto Mono Medium" pitchFamily="34" charset="-122"/>
                <a:cs typeface="Roboto Mono Medium" pitchFamily="34" charset="-120"/>
              </a:rPr>
              <a:t>01. DETERMINISTIC ML</a:t>
            </a:r>
            <a:endParaRPr lang="en-US" sz="1150" dirty="0"/>
          </a:p>
        </p:txBody>
      </p:sp>
      <p:sp>
        <p:nvSpPr>
          <p:cNvPr id="19" name="Text 15"/>
          <p:cNvSpPr/>
          <p:nvPr/>
        </p:nvSpPr>
        <p:spPr>
          <a:xfrm>
            <a:off x="614363" y="3261178"/>
            <a:ext cx="2295516" cy="771525"/>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Statistical precision to flag anomalies based on peer groups, temporal shifts, and coding norms. Auditable and reproducible.</a:t>
            </a:r>
            <a:endParaRPr lang="en-US" sz="950" dirty="0"/>
          </a:p>
        </p:txBody>
      </p:sp>
      <p:sp>
        <p:nvSpPr>
          <p:cNvPr id="20" name="Text 16"/>
          <p:cNvSpPr/>
          <p:nvPr/>
        </p:nvSpPr>
        <p:spPr>
          <a:xfrm>
            <a:off x="3424228" y="2853984"/>
            <a:ext cx="2295516" cy="278606"/>
          </a:xfrm>
          <a:prstGeom prst="rect">
            <a:avLst/>
          </a:prstGeom>
          <a:noFill/>
          <a:ln/>
        </p:spPr>
        <p:txBody>
          <a:bodyPr wrap="square" lIns="0" tIns="85090" rIns="0" bIns="0" rtlCol="0" anchor="t">
            <a:spAutoFit/>
          </a:bodyPr>
          <a:lstStyle/>
          <a:p>
            <a:pPr algn="l" indent="0" marL="0">
              <a:buNone/>
            </a:pPr>
            <a:r>
              <a:rPr lang="en-US" sz="1150" dirty="0">
                <a:solidFill>
                  <a:srgbClr val="D64545"/>
                </a:solidFill>
                <a:latin typeface="Roboto Mono Medium" pitchFamily="34" charset="0"/>
                <a:ea typeface="Roboto Mono Medium" pitchFamily="34" charset="-122"/>
                <a:cs typeface="Roboto Mono Medium" pitchFamily="34" charset="-120"/>
              </a:rPr>
              <a:t>02. AGENTIC GENAI</a:t>
            </a:r>
            <a:endParaRPr lang="en-US" sz="1150" dirty="0"/>
          </a:p>
        </p:txBody>
      </p:sp>
      <p:sp>
        <p:nvSpPr>
          <p:cNvPr id="21" name="Text 17"/>
          <p:cNvSpPr/>
          <p:nvPr/>
        </p:nvSpPr>
        <p:spPr>
          <a:xfrm>
            <a:off x="3424228" y="3261178"/>
            <a:ext cx="2295516"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Human-like reasoning to retrieve </a:t>
            </a:r>
            <a:r>
              <a:rPr lang="en-US" sz="950" dirty="0">
                <a:solidFill>
                  <a:srgbClr val="334E68"/>
                </a:solidFill>
                <a:latin typeface="Inter Light" pitchFamily="34" charset="0"/>
                <a:ea typeface="Inter Light" pitchFamily="34" charset="-122"/>
                <a:cs typeface="Inter Light" pitchFamily="34" charset="-120"/>
              </a:rPr>
              <a:t>policies and explain </a:t>
            </a:r>
            <a:r>
              <a:rPr lang="en-US" sz="950" i="1" dirty="0">
                <a:solidFill>
                  <a:srgbClr val="334E68"/>
                </a:solidFill>
                <a:latin typeface="Inter" pitchFamily="34" charset="0"/>
                <a:ea typeface="Inter" pitchFamily="34" charset="-122"/>
                <a:cs typeface="Inter" pitchFamily="34" charset="-120"/>
              </a:rPr>
              <a:t>why</a:t>
            </a:r>
            <a:r>
              <a:rPr lang="en-US" sz="950" dirty="0">
                <a:solidFill>
                  <a:srgbClr val="334E68"/>
                </a:solidFill>
                <a:latin typeface="Inter Light" pitchFamily="34" charset="0"/>
                <a:ea typeface="Inter Light" pitchFamily="34" charset="-122"/>
                <a:cs typeface="Inter Light" pitchFamily="34" charset="-120"/>
              </a:rPr>
              <a:t> a claim was </a:t>
            </a:r>
            <a:r>
              <a:rPr lang="en-US" sz="950" dirty="0">
                <a:solidFill>
                  <a:srgbClr val="334E68"/>
                </a:solidFill>
                <a:latin typeface="Inter Light" pitchFamily="34" charset="0"/>
                <a:ea typeface="Inter Light" pitchFamily="34" charset="-122"/>
                <a:cs typeface="Inter Light" pitchFamily="34" charset="-120"/>
              </a:rPr>
              <a:t>flagged in plain, citable English.</a:t>
            </a:r>
            <a:endParaRPr lang="en-US" sz="950" dirty="0"/>
          </a:p>
        </p:txBody>
      </p:sp>
      <p:sp>
        <p:nvSpPr>
          <p:cNvPr id="22" name="Text 18"/>
          <p:cNvSpPr/>
          <p:nvPr/>
        </p:nvSpPr>
        <p:spPr>
          <a:xfrm>
            <a:off x="6234094" y="2853984"/>
            <a:ext cx="2295544" cy="278606"/>
          </a:xfrm>
          <a:prstGeom prst="rect">
            <a:avLst/>
          </a:prstGeom>
          <a:noFill/>
          <a:ln/>
        </p:spPr>
        <p:txBody>
          <a:bodyPr wrap="square" lIns="0" tIns="85090" rIns="0" bIns="0" rtlCol="0" anchor="t">
            <a:spAutoFit/>
          </a:bodyPr>
          <a:lstStyle/>
          <a:p>
            <a:pPr algn="l" indent="0" marL="0">
              <a:buNone/>
            </a:pPr>
            <a:r>
              <a:rPr lang="en-US" sz="1150" dirty="0">
                <a:solidFill>
                  <a:srgbClr val="102A43"/>
                </a:solidFill>
                <a:latin typeface="Roboto Mono Medium" pitchFamily="34" charset="0"/>
                <a:ea typeface="Roboto Mono Medium" pitchFamily="34" charset="-122"/>
                <a:cs typeface="Roboto Mono Medium" pitchFamily="34" charset="-120"/>
              </a:rPr>
              <a:t>03. COMPLIANCE-BY-DESIGN</a:t>
            </a:r>
            <a:endParaRPr lang="en-US" sz="1150" dirty="0"/>
          </a:p>
        </p:txBody>
      </p:sp>
      <p:sp>
        <p:nvSpPr>
          <p:cNvPr id="23" name="Text 19"/>
          <p:cNvSpPr/>
          <p:nvPr/>
        </p:nvSpPr>
        <p:spPr>
          <a:xfrm>
            <a:off x="6234094" y="3261178"/>
            <a:ext cx="2295544"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Built-in audit trails, bias testing, and human-in-the-loop checkpoints to meet emerging state regulations.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THREE LAYERS OF TRUST</a:t>
            </a:r>
            <a:endParaRPr lang="en-US" sz="2600" dirty="0"/>
          </a:p>
        </p:txBody>
      </p:sp>
      <p:pic>
        <p:nvPicPr>
          <p:cNvPr id="17" name="Image 1" descr="preencoded.png">    </p:cNvPr>
          <p:cNvPicPr>
            <a:picLocks noChangeAspect="1"/>
          </p:cNvPicPr>
          <p:nvPr/>
        </p:nvPicPr>
        <p:blipFill>
          <a:blip r:embed="rId2"/>
          <a:stretch>
            <a:fillRect/>
          </a:stretch>
        </p:blipFill>
        <p:spPr>
          <a:xfrm>
            <a:off x="614363" y="1551980"/>
            <a:ext cx="228600" cy="228600"/>
          </a:xfrm>
          <a:prstGeom prst="rect">
            <a:avLst/>
          </a:prstGeom>
        </p:spPr>
      </p:pic>
      <p:sp>
        <p:nvSpPr>
          <p:cNvPr id="18" name="Text 13"/>
          <p:cNvSpPr/>
          <p:nvPr/>
        </p:nvSpPr>
        <p:spPr>
          <a:xfrm>
            <a:off x="614363" y="1950244"/>
            <a:ext cx="2295516" cy="285750"/>
          </a:xfrm>
          <a:prstGeom prst="rect">
            <a:avLst/>
          </a:prstGeom>
          <a:noFill/>
          <a:ln/>
        </p:spPr>
        <p:txBody>
          <a:bodyPr wrap="square" lIns="0" tIns="0" rIns="0" bIns="8509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DETECTION LAYER</a:t>
            </a:r>
            <a:endParaRPr lang="en-US" sz="1100" dirty="0"/>
          </a:p>
        </p:txBody>
      </p:sp>
      <p:sp>
        <p:nvSpPr>
          <p:cNvPr id="19" name="Text 14"/>
          <p:cNvSpPr/>
          <p:nvPr/>
        </p:nvSpPr>
        <p:spPr>
          <a:xfrm>
            <a:off x="614363" y="2343150"/>
            <a:ext cx="2295516" cy="132159"/>
          </a:xfrm>
          <a:prstGeom prst="rect">
            <a:avLst/>
          </a:prstGeom>
          <a:noFill/>
          <a:ln/>
        </p:spPr>
        <p:txBody>
          <a:bodyPr wrap="square" lIns="0" tIns="0" rIns="0" bIns="0" rtlCol="0" anchor="t">
            <a:spAutoFit/>
          </a:bodyPr>
          <a:lstStyle/>
          <a:p>
            <a:pPr algn="l" indent="0" marL="0">
              <a:buNone/>
            </a:pPr>
            <a:r>
              <a:rPr lang="en-US" sz="750" dirty="0">
                <a:solidFill>
                  <a:srgbClr val="1992D4"/>
                </a:solidFill>
                <a:latin typeface="Roboto Mono Medium" pitchFamily="34" charset="0"/>
                <a:ea typeface="Roboto Mono Medium" pitchFamily="34" charset="-122"/>
                <a:cs typeface="Roboto Mono Medium" pitchFamily="34" charset="-120"/>
              </a:rPr>
              <a:t>DETERMINISTIC &amp; AUDITABLE</a:t>
            </a:r>
            <a:endParaRPr lang="en-US" sz="750" dirty="0"/>
          </a:p>
        </p:txBody>
      </p:sp>
      <p:sp>
        <p:nvSpPr>
          <p:cNvPr id="20" name="Text 15"/>
          <p:cNvSpPr/>
          <p:nvPr/>
        </p:nvSpPr>
        <p:spPr>
          <a:xfrm>
            <a:off x="900113" y="2803922"/>
            <a:ext cx="200976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Statistical ML (Z-Score, Isolation Forest)</a:t>
            </a:r>
            <a:endParaRPr lang="en-US" sz="850" dirty="0"/>
          </a:p>
        </p:txBody>
      </p:sp>
      <p:sp>
        <p:nvSpPr>
          <p:cNvPr id="21" name="Text 16"/>
          <p:cNvSpPr/>
          <p:nvPr/>
        </p:nvSpPr>
        <p:spPr>
          <a:xfrm>
            <a:off x="900113" y="3276805"/>
            <a:ext cx="200976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Peer-group &amp; coding norm analysis</a:t>
            </a:r>
            <a:endParaRPr lang="en-US" sz="850" dirty="0"/>
          </a:p>
        </p:txBody>
      </p:sp>
      <p:sp>
        <p:nvSpPr>
          <p:cNvPr id="22" name="Text 17"/>
          <p:cNvSpPr/>
          <p:nvPr/>
        </p:nvSpPr>
        <p:spPr>
          <a:xfrm>
            <a:off x="900113" y="3749687"/>
            <a:ext cx="200976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Reproducible numeric anomaly scores</a:t>
            </a:r>
            <a:endParaRPr lang="en-US" sz="850" dirty="0"/>
          </a:p>
        </p:txBody>
      </p:sp>
      <p:sp>
        <p:nvSpPr>
          <p:cNvPr id="23" name="Text 18"/>
          <p:cNvSpPr/>
          <p:nvPr/>
        </p:nvSpPr>
        <p:spPr>
          <a:xfrm>
            <a:off x="900113" y="2803922"/>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
        <p:nvSpPr>
          <p:cNvPr id="24" name="Text 19"/>
          <p:cNvSpPr/>
          <p:nvPr/>
        </p:nvSpPr>
        <p:spPr>
          <a:xfrm>
            <a:off x="900113" y="3276805"/>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
        <p:nvSpPr>
          <p:cNvPr id="25" name="Text 20"/>
          <p:cNvSpPr/>
          <p:nvPr/>
        </p:nvSpPr>
        <p:spPr>
          <a:xfrm>
            <a:off x="900113" y="3749687"/>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pic>
        <p:nvPicPr>
          <p:cNvPr id="26" name="Image 2" descr="preencoded.png">    </p:cNvPr>
          <p:cNvPicPr>
            <a:picLocks noChangeAspect="1"/>
          </p:cNvPicPr>
          <p:nvPr/>
        </p:nvPicPr>
        <p:blipFill>
          <a:blip r:embed="rId3"/>
          <a:stretch>
            <a:fillRect/>
          </a:stretch>
        </p:blipFill>
        <p:spPr>
          <a:xfrm>
            <a:off x="3424228" y="1551980"/>
            <a:ext cx="228600" cy="228600"/>
          </a:xfrm>
          <a:prstGeom prst="rect">
            <a:avLst/>
          </a:prstGeom>
        </p:spPr>
      </p:pic>
      <p:sp>
        <p:nvSpPr>
          <p:cNvPr id="27" name="Text 21"/>
          <p:cNvSpPr/>
          <p:nvPr/>
        </p:nvSpPr>
        <p:spPr>
          <a:xfrm>
            <a:off x="3424228" y="1950244"/>
            <a:ext cx="2295516" cy="285750"/>
          </a:xfrm>
          <a:prstGeom prst="rect">
            <a:avLst/>
          </a:prstGeom>
          <a:noFill/>
          <a:ln/>
        </p:spPr>
        <p:txBody>
          <a:bodyPr wrap="square" lIns="0" tIns="0" rIns="0" bIns="8509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GENAI LAYER</a:t>
            </a:r>
            <a:endParaRPr lang="en-US" sz="1100" dirty="0"/>
          </a:p>
        </p:txBody>
      </p:sp>
      <p:sp>
        <p:nvSpPr>
          <p:cNvPr id="28" name="Text 22"/>
          <p:cNvSpPr/>
          <p:nvPr/>
        </p:nvSpPr>
        <p:spPr>
          <a:xfrm>
            <a:off x="3424228" y="2343150"/>
            <a:ext cx="2295516" cy="132159"/>
          </a:xfrm>
          <a:prstGeom prst="rect">
            <a:avLst/>
          </a:prstGeom>
          <a:noFill/>
          <a:ln/>
        </p:spPr>
        <p:txBody>
          <a:bodyPr wrap="square" lIns="0" tIns="0" rIns="0" bIns="0" rtlCol="0" anchor="t">
            <a:spAutoFit/>
          </a:bodyPr>
          <a:lstStyle/>
          <a:p>
            <a:pPr algn="l" indent="0" marL="0">
              <a:buNone/>
            </a:pPr>
            <a:r>
              <a:rPr lang="en-US" sz="750" dirty="0">
                <a:solidFill>
                  <a:srgbClr val="1992D4"/>
                </a:solidFill>
                <a:latin typeface="Roboto Mono Medium" pitchFamily="34" charset="0"/>
                <a:ea typeface="Roboto Mono Medium" pitchFamily="34" charset="-122"/>
                <a:cs typeface="Roboto Mono Medium" pitchFamily="34" charset="-120"/>
              </a:rPr>
              <a:t>AGENTIC &amp; INTERPRETIVE</a:t>
            </a:r>
            <a:endParaRPr lang="en-US" sz="750" dirty="0"/>
          </a:p>
        </p:txBody>
      </p:sp>
      <p:sp>
        <p:nvSpPr>
          <p:cNvPr id="29" name="Text 23"/>
          <p:cNvSpPr/>
          <p:nvPr/>
        </p:nvSpPr>
        <p:spPr>
          <a:xfrm>
            <a:off x="3709978" y="2803922"/>
            <a:ext cx="2009766" cy="182863"/>
          </a:xfrm>
          <a:prstGeom prst="rect">
            <a:avLst/>
          </a:prstGeom>
          <a:noFill/>
          <a:ln/>
        </p:spPr>
        <p:txBody>
          <a:bodyPr wrap="non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RAG-powered policy retrieval</a:t>
            </a:r>
            <a:endParaRPr lang="en-US" sz="850" dirty="0"/>
          </a:p>
        </p:txBody>
      </p:sp>
      <p:sp>
        <p:nvSpPr>
          <p:cNvPr id="30" name="Text 24"/>
          <p:cNvSpPr/>
          <p:nvPr/>
        </p:nvSpPr>
        <p:spPr>
          <a:xfrm>
            <a:off x="3709978" y="3093941"/>
            <a:ext cx="200976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Chain-of-thought reasoning rationale</a:t>
            </a:r>
            <a:endParaRPr lang="en-US" sz="850" dirty="0"/>
          </a:p>
        </p:txBody>
      </p:sp>
      <p:sp>
        <p:nvSpPr>
          <p:cNvPr id="31" name="Text 25"/>
          <p:cNvSpPr/>
          <p:nvPr/>
        </p:nvSpPr>
        <p:spPr>
          <a:xfrm>
            <a:off x="3709978" y="3566824"/>
            <a:ext cx="2009766" cy="182863"/>
          </a:xfrm>
          <a:prstGeom prst="rect">
            <a:avLst/>
          </a:prstGeom>
          <a:noFill/>
          <a:ln/>
        </p:spPr>
        <p:txBody>
          <a:bodyPr wrap="non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Plain-English, cited explanations</a:t>
            </a:r>
            <a:endParaRPr lang="en-US" sz="850" dirty="0"/>
          </a:p>
        </p:txBody>
      </p:sp>
      <p:sp>
        <p:nvSpPr>
          <p:cNvPr id="32" name="Text 26"/>
          <p:cNvSpPr/>
          <p:nvPr/>
        </p:nvSpPr>
        <p:spPr>
          <a:xfrm>
            <a:off x="3709978" y="2803922"/>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
        <p:nvSpPr>
          <p:cNvPr id="33" name="Text 27"/>
          <p:cNvSpPr/>
          <p:nvPr/>
        </p:nvSpPr>
        <p:spPr>
          <a:xfrm>
            <a:off x="3709978" y="3093941"/>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
        <p:nvSpPr>
          <p:cNvPr id="34" name="Text 28"/>
          <p:cNvSpPr/>
          <p:nvPr/>
        </p:nvSpPr>
        <p:spPr>
          <a:xfrm>
            <a:off x="3709978" y="3566824"/>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pic>
        <p:nvPicPr>
          <p:cNvPr id="35" name="Image 3" descr="preencoded.png">    </p:cNvPr>
          <p:cNvPicPr>
            <a:picLocks noChangeAspect="1"/>
          </p:cNvPicPr>
          <p:nvPr/>
        </p:nvPicPr>
        <p:blipFill>
          <a:blip r:embed="rId4"/>
          <a:stretch>
            <a:fillRect/>
          </a:stretch>
        </p:blipFill>
        <p:spPr>
          <a:xfrm>
            <a:off x="6234094" y="1551980"/>
            <a:ext cx="257175" cy="228600"/>
          </a:xfrm>
          <a:prstGeom prst="rect">
            <a:avLst/>
          </a:prstGeom>
        </p:spPr>
      </p:pic>
      <p:sp>
        <p:nvSpPr>
          <p:cNvPr id="36" name="Text 29"/>
          <p:cNvSpPr/>
          <p:nvPr/>
        </p:nvSpPr>
        <p:spPr>
          <a:xfrm>
            <a:off x="6234094" y="1950244"/>
            <a:ext cx="2295544" cy="285750"/>
          </a:xfrm>
          <a:prstGeom prst="rect">
            <a:avLst/>
          </a:prstGeom>
          <a:noFill/>
          <a:ln/>
        </p:spPr>
        <p:txBody>
          <a:bodyPr wrap="square" lIns="0" tIns="0" rIns="0" bIns="8509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INTERFACE LAYER</a:t>
            </a:r>
            <a:endParaRPr lang="en-US" sz="1100" dirty="0"/>
          </a:p>
        </p:txBody>
      </p:sp>
      <p:sp>
        <p:nvSpPr>
          <p:cNvPr id="37" name="Text 30"/>
          <p:cNvSpPr/>
          <p:nvPr/>
        </p:nvSpPr>
        <p:spPr>
          <a:xfrm>
            <a:off x="6234094" y="2343150"/>
            <a:ext cx="2295544" cy="132159"/>
          </a:xfrm>
          <a:prstGeom prst="rect">
            <a:avLst/>
          </a:prstGeom>
          <a:noFill/>
          <a:ln/>
        </p:spPr>
        <p:txBody>
          <a:bodyPr wrap="square" lIns="0" tIns="0" rIns="0" bIns="0" rtlCol="0" anchor="t">
            <a:spAutoFit/>
          </a:bodyPr>
          <a:lstStyle/>
          <a:p>
            <a:pPr algn="l" indent="0" marL="0">
              <a:buNone/>
            </a:pPr>
            <a:r>
              <a:rPr lang="en-US" sz="750" dirty="0">
                <a:solidFill>
                  <a:srgbClr val="1992D4"/>
                </a:solidFill>
                <a:latin typeface="Roboto Mono Medium" pitchFamily="34" charset="0"/>
                <a:ea typeface="Roboto Mono Medium" pitchFamily="34" charset="-122"/>
                <a:cs typeface="Roboto Mono Medium" pitchFamily="34" charset="-120"/>
              </a:rPr>
              <a:t>HUMAN-IN-THE-LOOP</a:t>
            </a:r>
            <a:endParaRPr lang="en-US" sz="750" dirty="0"/>
          </a:p>
        </p:txBody>
      </p:sp>
      <p:sp>
        <p:nvSpPr>
          <p:cNvPr id="38" name="Text 31"/>
          <p:cNvSpPr/>
          <p:nvPr/>
        </p:nvSpPr>
        <p:spPr>
          <a:xfrm>
            <a:off x="6519844" y="2803922"/>
            <a:ext cx="2009794" cy="182863"/>
          </a:xfrm>
          <a:prstGeom prst="rect">
            <a:avLst/>
          </a:prstGeom>
          <a:noFill/>
          <a:ln/>
        </p:spPr>
        <p:txBody>
          <a:bodyPr wrap="non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Reviewer-facing triage dashboard</a:t>
            </a:r>
            <a:endParaRPr lang="en-US" sz="850" dirty="0"/>
          </a:p>
        </p:txBody>
      </p:sp>
      <p:sp>
        <p:nvSpPr>
          <p:cNvPr id="39" name="Text 32"/>
          <p:cNvSpPr/>
          <p:nvPr/>
        </p:nvSpPr>
        <p:spPr>
          <a:xfrm>
            <a:off x="6519844" y="3093941"/>
            <a:ext cx="2009794" cy="182863"/>
          </a:xfrm>
          <a:prstGeom prst="rect">
            <a:avLst/>
          </a:prstGeom>
          <a:noFill/>
          <a:ln/>
        </p:spPr>
        <p:txBody>
          <a:bodyPr wrap="non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Rationale + Recommended Action</a:t>
            </a:r>
            <a:endParaRPr lang="en-US" sz="850" dirty="0"/>
          </a:p>
        </p:txBody>
      </p:sp>
      <p:sp>
        <p:nvSpPr>
          <p:cNvPr id="40" name="Text 33"/>
          <p:cNvSpPr/>
          <p:nvPr/>
        </p:nvSpPr>
        <p:spPr>
          <a:xfrm>
            <a:off x="6519844" y="3383961"/>
            <a:ext cx="2009794" cy="182863"/>
          </a:xfrm>
          <a:prstGeom prst="rect">
            <a:avLst/>
          </a:prstGeom>
          <a:noFill/>
          <a:ln/>
        </p:spPr>
        <p:txBody>
          <a:bodyPr wrap="non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Full audit trail for compliance</a:t>
            </a:r>
            <a:endParaRPr lang="en-US" sz="850" dirty="0"/>
          </a:p>
        </p:txBody>
      </p:sp>
      <p:sp>
        <p:nvSpPr>
          <p:cNvPr id="41" name="Text 34"/>
          <p:cNvSpPr/>
          <p:nvPr/>
        </p:nvSpPr>
        <p:spPr>
          <a:xfrm>
            <a:off x="6519844" y="2803922"/>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
        <p:nvSpPr>
          <p:cNvPr id="42" name="Text 35"/>
          <p:cNvSpPr/>
          <p:nvPr/>
        </p:nvSpPr>
        <p:spPr>
          <a:xfrm>
            <a:off x="6519844" y="3093941"/>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
        <p:nvSpPr>
          <p:cNvPr id="43" name="Text 36"/>
          <p:cNvSpPr/>
          <p:nvPr/>
        </p:nvSpPr>
        <p:spPr>
          <a:xfrm>
            <a:off x="6519844" y="3383961"/>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D64545"/>
                </a:solidFill>
                <a:latin typeface="Roboto Mono Medium" pitchFamily="34" charset="0"/>
                <a:ea typeface="Roboto Mono Medium" pitchFamily="34" charset="-122"/>
                <a:cs typeface="Roboto Mono Medium" pitchFamily="34" charset="-120"/>
              </a:rPr>
              <a:t>&gt;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THE PROOF OF CONCEPT (POC)</a:t>
            </a:r>
            <a:endParaRPr lang="en-US" sz="2600" dirty="0"/>
          </a:p>
        </p:txBody>
      </p:sp>
      <p:sp>
        <p:nvSpPr>
          <p:cNvPr id="17" name="Text 13"/>
          <p:cNvSpPr/>
          <p:nvPr/>
        </p:nvSpPr>
        <p:spPr>
          <a:xfrm>
            <a:off x="614363" y="1459111"/>
            <a:ext cx="2295516"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01 // DATA</a:t>
            </a:r>
            <a:endParaRPr lang="en-US" sz="750" dirty="0"/>
          </a:p>
        </p:txBody>
      </p:sp>
      <p:sp>
        <p:nvSpPr>
          <p:cNvPr id="18" name="Text 14"/>
          <p:cNvSpPr/>
          <p:nvPr/>
        </p:nvSpPr>
        <p:spPr>
          <a:xfrm>
            <a:off x="614363" y="1721700"/>
            <a:ext cx="2295516" cy="285750"/>
          </a:xfrm>
          <a:prstGeom prst="rect">
            <a:avLst/>
          </a:prstGeom>
          <a:noFill/>
          <a:ln/>
        </p:spPr>
        <p:txBody>
          <a:bodyPr wrap="square" lIns="0" tIns="0" rIns="0" bIns="8509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SYNTHETIC PIPELINE</a:t>
            </a:r>
            <a:endParaRPr lang="en-US" sz="1100" dirty="0"/>
          </a:p>
        </p:txBody>
      </p:sp>
      <p:sp>
        <p:nvSpPr>
          <p:cNvPr id="19" name="Text 15"/>
          <p:cNvSpPr/>
          <p:nvPr/>
        </p:nvSpPr>
        <p:spPr>
          <a:xfrm>
            <a:off x="614363" y="2150325"/>
            <a:ext cx="229551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Reproducible claim generation with seeded anomalies.</a:t>
            </a:r>
            <a:endParaRPr lang="en-US" sz="850" dirty="0"/>
          </a:p>
        </p:txBody>
      </p:sp>
      <p:sp>
        <p:nvSpPr>
          <p:cNvPr id="20" name="Text 16"/>
          <p:cNvSpPr/>
          <p:nvPr/>
        </p:nvSpPr>
        <p:spPr>
          <a:xfrm>
            <a:off x="614363" y="2623207"/>
            <a:ext cx="229551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Fixed random seeds for reliable, repeatable demonstrations.</a:t>
            </a:r>
            <a:endParaRPr lang="en-US" sz="850" dirty="0"/>
          </a:p>
        </p:txBody>
      </p:sp>
      <p:sp>
        <p:nvSpPr>
          <p:cNvPr id="21" name="Text 17"/>
          <p:cNvSpPr/>
          <p:nvPr/>
        </p:nvSpPr>
        <p:spPr>
          <a:xfrm>
            <a:off x="614363" y="3096090"/>
            <a:ext cx="229551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Simulates real-world billing patterns and coding errors.</a:t>
            </a:r>
            <a:endParaRPr lang="en-US" sz="850" dirty="0"/>
          </a:p>
        </p:txBody>
      </p:sp>
      <p:sp>
        <p:nvSpPr>
          <p:cNvPr id="22" name="Text 18"/>
          <p:cNvSpPr/>
          <p:nvPr/>
        </p:nvSpPr>
        <p:spPr>
          <a:xfrm>
            <a:off x="614363" y="2150325"/>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23" name="Text 19"/>
          <p:cNvSpPr/>
          <p:nvPr/>
        </p:nvSpPr>
        <p:spPr>
          <a:xfrm>
            <a:off x="614363" y="2623207"/>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24" name="Text 20"/>
          <p:cNvSpPr/>
          <p:nvPr/>
        </p:nvSpPr>
        <p:spPr>
          <a:xfrm>
            <a:off x="614363" y="3096090"/>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25" name="Text 21"/>
          <p:cNvSpPr/>
          <p:nvPr/>
        </p:nvSpPr>
        <p:spPr>
          <a:xfrm>
            <a:off x="3424228" y="1459111"/>
            <a:ext cx="2295516"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02 // REASONING</a:t>
            </a:r>
            <a:endParaRPr lang="en-US" sz="750" dirty="0"/>
          </a:p>
        </p:txBody>
      </p:sp>
      <p:sp>
        <p:nvSpPr>
          <p:cNvPr id="26" name="Text 22"/>
          <p:cNvSpPr/>
          <p:nvPr/>
        </p:nvSpPr>
        <p:spPr>
          <a:xfrm>
            <a:off x="3424228" y="1721700"/>
            <a:ext cx="2295516" cy="285750"/>
          </a:xfrm>
          <a:prstGeom prst="rect">
            <a:avLst/>
          </a:prstGeom>
          <a:noFill/>
          <a:ln/>
        </p:spPr>
        <p:txBody>
          <a:bodyPr wrap="square" lIns="0" tIns="0" rIns="0" bIns="8509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RAG RETRIEVAL</a:t>
            </a:r>
            <a:endParaRPr lang="en-US" sz="1100" dirty="0"/>
          </a:p>
        </p:txBody>
      </p:sp>
      <p:sp>
        <p:nvSpPr>
          <p:cNvPr id="27" name="Text 23"/>
          <p:cNvSpPr/>
          <p:nvPr/>
        </p:nvSpPr>
        <p:spPr>
          <a:xfrm>
            <a:off x="3424228" y="2150325"/>
            <a:ext cx="229551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Gemini Embeddings API for semantic policy matching.</a:t>
            </a:r>
            <a:endParaRPr lang="en-US" sz="850" dirty="0"/>
          </a:p>
        </p:txBody>
      </p:sp>
      <p:sp>
        <p:nvSpPr>
          <p:cNvPr id="28" name="Text 24"/>
          <p:cNvSpPr/>
          <p:nvPr/>
        </p:nvSpPr>
        <p:spPr>
          <a:xfrm>
            <a:off x="3424228" y="2623207"/>
            <a:ext cx="229551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Curated CMS policy corpus (NCD/LCD excerpts).</a:t>
            </a:r>
            <a:endParaRPr lang="en-US" sz="850" dirty="0"/>
          </a:p>
        </p:txBody>
      </p:sp>
      <p:sp>
        <p:nvSpPr>
          <p:cNvPr id="29" name="Text 25"/>
          <p:cNvSpPr/>
          <p:nvPr/>
        </p:nvSpPr>
        <p:spPr>
          <a:xfrm>
            <a:off x="3424228" y="3096090"/>
            <a:ext cx="2295516"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Context-aware retrieval based on claim CPT/ICD-10 codes.</a:t>
            </a:r>
            <a:endParaRPr lang="en-US" sz="850" dirty="0"/>
          </a:p>
        </p:txBody>
      </p:sp>
      <p:sp>
        <p:nvSpPr>
          <p:cNvPr id="30" name="Text 26"/>
          <p:cNvSpPr/>
          <p:nvPr/>
        </p:nvSpPr>
        <p:spPr>
          <a:xfrm>
            <a:off x="3424228" y="2150325"/>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31" name="Text 27"/>
          <p:cNvSpPr/>
          <p:nvPr/>
        </p:nvSpPr>
        <p:spPr>
          <a:xfrm>
            <a:off x="3424228" y="2623207"/>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32" name="Text 28"/>
          <p:cNvSpPr/>
          <p:nvPr/>
        </p:nvSpPr>
        <p:spPr>
          <a:xfrm>
            <a:off x="3424228" y="3096090"/>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33" name="Text 29"/>
          <p:cNvSpPr/>
          <p:nvPr/>
        </p:nvSpPr>
        <p:spPr>
          <a:xfrm>
            <a:off x="6234094" y="1459111"/>
            <a:ext cx="2295544"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03 // OUTPUT</a:t>
            </a:r>
            <a:endParaRPr lang="en-US" sz="750" dirty="0"/>
          </a:p>
        </p:txBody>
      </p:sp>
      <p:sp>
        <p:nvSpPr>
          <p:cNvPr id="34" name="Text 30"/>
          <p:cNvSpPr/>
          <p:nvPr/>
        </p:nvSpPr>
        <p:spPr>
          <a:xfrm>
            <a:off x="6234094" y="1721700"/>
            <a:ext cx="2295544" cy="285750"/>
          </a:xfrm>
          <a:prstGeom prst="rect">
            <a:avLst/>
          </a:prstGeom>
          <a:noFill/>
          <a:ln/>
        </p:spPr>
        <p:txBody>
          <a:bodyPr wrap="square" lIns="0" tIns="0" rIns="0" bIns="8509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NL RATIONALE</a:t>
            </a:r>
            <a:endParaRPr lang="en-US" sz="1100" dirty="0"/>
          </a:p>
        </p:txBody>
      </p:sp>
      <p:sp>
        <p:nvSpPr>
          <p:cNvPr id="35" name="Text 31"/>
          <p:cNvSpPr/>
          <p:nvPr/>
        </p:nvSpPr>
        <p:spPr>
          <a:xfrm>
            <a:off x="6234094" y="2150325"/>
            <a:ext cx="2295544"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Agentic generation of plain-English explanations.</a:t>
            </a:r>
            <a:endParaRPr lang="en-US" sz="850" dirty="0"/>
          </a:p>
        </p:txBody>
      </p:sp>
      <p:sp>
        <p:nvSpPr>
          <p:cNvPr id="36" name="Text 32"/>
          <p:cNvSpPr/>
          <p:nvPr/>
        </p:nvSpPr>
        <p:spPr>
          <a:xfrm>
            <a:off x="6234094" y="2623207"/>
            <a:ext cx="2295544"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Direct citations of retrieved policy clauses.</a:t>
            </a:r>
            <a:endParaRPr lang="en-US" sz="850" dirty="0"/>
          </a:p>
        </p:txBody>
      </p:sp>
      <p:sp>
        <p:nvSpPr>
          <p:cNvPr id="37" name="Text 33"/>
          <p:cNvSpPr/>
          <p:nvPr/>
        </p:nvSpPr>
        <p:spPr>
          <a:xfrm>
            <a:off x="6234094" y="3096090"/>
            <a:ext cx="2295544" cy="365727"/>
          </a:xfrm>
          <a:prstGeom prst="rect">
            <a:avLst/>
          </a:prstGeom>
          <a:noFill/>
          <a:ln/>
        </p:spPr>
        <p:txBody>
          <a:bodyPr wrap="square" lIns="170053" tIns="0" rIns="0" bIns="0" rtlCol="0" anchor="t">
            <a:spAutoFit/>
          </a:bodyPr>
          <a:lstStyle/>
          <a:p>
            <a:pPr algn="l" indent="0" marL="0">
              <a:lnSpc>
                <a:spcPct val="128000"/>
              </a:lnSpc>
              <a:buNone/>
            </a:pPr>
            <a:r>
              <a:rPr lang="en-US" sz="850" dirty="0">
                <a:solidFill>
                  <a:srgbClr val="334E68"/>
                </a:solidFill>
                <a:latin typeface="Inter Light" pitchFamily="34" charset="0"/>
                <a:ea typeface="Inter Light" pitchFamily="34" charset="-122"/>
                <a:cs typeface="Inter Light" pitchFamily="34" charset="-120"/>
              </a:rPr>
              <a:t>Actionable recommendations: Pend, Deny, or Auto-Pay.</a:t>
            </a:r>
            <a:endParaRPr lang="en-US" sz="850" dirty="0"/>
          </a:p>
        </p:txBody>
      </p:sp>
      <p:sp>
        <p:nvSpPr>
          <p:cNvPr id="38" name="Text 34"/>
          <p:cNvSpPr/>
          <p:nvPr/>
        </p:nvSpPr>
        <p:spPr>
          <a:xfrm>
            <a:off x="6234094" y="2150325"/>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39" name="Text 35"/>
          <p:cNvSpPr/>
          <p:nvPr/>
        </p:nvSpPr>
        <p:spPr>
          <a:xfrm>
            <a:off x="6234094" y="2623207"/>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
        <p:nvSpPr>
          <p:cNvPr id="40" name="Text 36"/>
          <p:cNvSpPr/>
          <p:nvPr/>
        </p:nvSpPr>
        <p:spPr>
          <a:xfrm>
            <a:off x="6234094" y="3096090"/>
            <a:ext cx="67866"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1992D4"/>
                </a:solidFill>
                <a:latin typeface="Roboto Mono Medium" pitchFamily="34" charset="0"/>
                <a:ea typeface="Roboto Mono Medium" pitchFamily="34" charset="-122"/>
                <a:cs typeface="Roboto Mono Medium" pitchFamily="34" charset="-120"/>
              </a:rPr>
              <a:t>&gt;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STRATEGIC DIFFERENTIATOR: EXPLAINABILITY</a:t>
            </a:r>
            <a:endParaRPr lang="en-US" sz="2600" dirty="0"/>
          </a:p>
        </p:txBody>
      </p:sp>
      <p:sp>
        <p:nvSpPr>
          <p:cNvPr id="17" name="Text 13"/>
          <p:cNvSpPr/>
          <p:nvPr/>
        </p:nvSpPr>
        <p:spPr>
          <a:xfrm>
            <a:off x="650081" y="1387673"/>
            <a:ext cx="3614738" cy="169664"/>
          </a:xfrm>
          <a:prstGeom prst="rect">
            <a:avLst/>
          </a:prstGeom>
          <a:noFill/>
          <a:ln/>
        </p:spPr>
        <p:txBody>
          <a:bodyPr wrap="square" lIns="0" tIns="0" rIns="0" bIns="0" rtlCol="0" anchor="t">
            <a:spAutoFit/>
          </a:bodyPr>
          <a:lstStyle/>
          <a:p>
            <a:pPr algn="l" indent="0" marL="0">
              <a:buNone/>
            </a:pPr>
            <a:r>
              <a:rPr lang="en-US" sz="950" dirty="0">
                <a:solidFill>
                  <a:srgbClr val="D64545"/>
                </a:solidFill>
                <a:latin typeface="Roboto Mono Medium" pitchFamily="34" charset="0"/>
                <a:ea typeface="Roboto Mono Medium" pitchFamily="34" charset="-122"/>
                <a:cs typeface="Roboto Mono Medium" pitchFamily="34" charset="-120"/>
              </a:rPr>
              <a:t>[ REGULATORY LANDSCAPE ]</a:t>
            </a:r>
            <a:endParaRPr lang="en-US" sz="950" dirty="0"/>
          </a:p>
        </p:txBody>
      </p:sp>
      <p:sp>
        <p:nvSpPr>
          <p:cNvPr id="18" name="Text 14"/>
          <p:cNvSpPr/>
          <p:nvPr/>
        </p:nvSpPr>
        <p:spPr>
          <a:xfrm>
            <a:off x="650081" y="2000250"/>
            <a:ext cx="36147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STATE OVERSIGHT</a:t>
            </a:r>
            <a:endParaRPr lang="en-US" sz="1100" dirty="0"/>
          </a:p>
        </p:txBody>
      </p:sp>
      <p:sp>
        <p:nvSpPr>
          <p:cNvPr id="19" name="Text 15"/>
          <p:cNvSpPr/>
          <p:nvPr/>
        </p:nvSpPr>
        <p:spPr>
          <a:xfrm>
            <a:off x="650081" y="2336006"/>
            <a:ext cx="3614738"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As of 2026, </a:t>
            </a:r>
            <a:r>
              <a:rPr lang="en-US" sz="950" dirty="0">
                <a:solidFill>
                  <a:srgbClr val="1992D4"/>
                </a:solidFill>
                <a:latin typeface="Inter Light" pitchFamily="34" charset="0"/>
                <a:ea typeface="Inter Light" pitchFamily="34" charset="-122"/>
                <a:cs typeface="Inter Light" pitchFamily="34" charset="-120"/>
              </a:rPr>
              <a:t>25+ states</a:t>
            </a:r>
            <a:r>
              <a:rPr lang="en-US" sz="950" dirty="0">
                <a:solidFill>
                  <a:srgbClr val="334E68"/>
                </a:solidFill>
                <a:latin typeface="Inter Light" pitchFamily="34" charset="0"/>
                <a:ea typeface="Inter Light" pitchFamily="34" charset="-122"/>
                <a:cs typeface="Inter Light" pitchFamily="34" charset="-120"/>
              </a:rPr>
              <a:t> have adopted guidance requiring </a:t>
            </a:r>
            <a:r>
              <a:rPr lang="en-US" sz="950" dirty="0">
                <a:solidFill>
                  <a:srgbClr val="334E68"/>
                </a:solidFill>
                <a:latin typeface="Inter Light" pitchFamily="34" charset="0"/>
                <a:ea typeface="Inter Light" pitchFamily="34" charset="-122"/>
                <a:cs typeface="Inter Light" pitchFamily="34" charset="-120"/>
              </a:rPr>
              <a:t>insurers to document AI oversight and demonstrate </a:t>
            </a:r>
            <a:r>
              <a:rPr lang="en-US" sz="950" dirty="0">
                <a:solidFill>
                  <a:srgbClr val="334E68"/>
                </a:solidFill>
                <a:latin typeface="Inter Light" pitchFamily="34" charset="0"/>
                <a:ea typeface="Inter Light" pitchFamily="34" charset="-122"/>
                <a:cs typeface="Inter Light" pitchFamily="34" charset="-120"/>
              </a:rPr>
              <a:t>explainability.</a:t>
            </a:r>
            <a:endParaRPr lang="en-US" sz="950" dirty="0"/>
          </a:p>
        </p:txBody>
      </p:sp>
      <p:sp>
        <p:nvSpPr>
          <p:cNvPr id="20" name="Text 16"/>
          <p:cNvSpPr/>
          <p:nvPr/>
        </p:nvSpPr>
        <p:spPr>
          <a:xfrm>
            <a:off x="650081" y="3386138"/>
            <a:ext cx="36147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PROHIBITED "BLACK-BOXES"</a:t>
            </a:r>
            <a:endParaRPr lang="en-US" sz="1100" dirty="0"/>
          </a:p>
        </p:txBody>
      </p:sp>
      <p:sp>
        <p:nvSpPr>
          <p:cNvPr id="21" name="Text 17"/>
          <p:cNvSpPr/>
          <p:nvPr/>
        </p:nvSpPr>
        <p:spPr>
          <a:xfrm>
            <a:off x="650081" y="3721894"/>
            <a:ext cx="3614738"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Texas, California, and Maryland now prohibit using AI as the </a:t>
            </a:r>
            <a:r>
              <a:rPr lang="en-US" sz="950" dirty="0">
                <a:solidFill>
                  <a:srgbClr val="1992D4"/>
                </a:solidFill>
                <a:latin typeface="Inter Light" pitchFamily="34" charset="0"/>
                <a:ea typeface="Inter Light" pitchFamily="34" charset="-122"/>
                <a:cs typeface="Inter Light" pitchFamily="34" charset="-120"/>
              </a:rPr>
              <a:t>sole basis</a:t>
            </a:r>
            <a:r>
              <a:rPr lang="en-US" sz="950" dirty="0">
                <a:solidFill>
                  <a:srgbClr val="334E68"/>
                </a:solidFill>
                <a:latin typeface="Inter Light" pitchFamily="34" charset="0"/>
                <a:ea typeface="Inter Light" pitchFamily="34" charset="-122"/>
                <a:cs typeface="Inter Light" pitchFamily="34" charset="-120"/>
              </a:rPr>
              <a:t> for adverse claim determinations without human-</a:t>
            </a:r>
            <a:r>
              <a:rPr lang="en-US" sz="950" dirty="0">
                <a:solidFill>
                  <a:srgbClr val="334E68"/>
                </a:solidFill>
                <a:latin typeface="Inter Light" pitchFamily="34" charset="0"/>
                <a:ea typeface="Inter Light" pitchFamily="34" charset="-122"/>
                <a:cs typeface="Inter Light" pitchFamily="34" charset="-120"/>
              </a:rPr>
              <a:t>readable rationale.</a:t>
            </a:r>
            <a:endParaRPr lang="en-US" sz="950" dirty="0"/>
          </a:p>
        </p:txBody>
      </p:sp>
      <p:sp>
        <p:nvSpPr>
          <p:cNvPr id="22" name="Text 18"/>
          <p:cNvSpPr/>
          <p:nvPr/>
        </p:nvSpPr>
        <p:spPr>
          <a:xfrm>
            <a:off x="4879181" y="1387673"/>
            <a:ext cx="3614738" cy="169664"/>
          </a:xfrm>
          <a:prstGeom prst="rect">
            <a:avLst/>
          </a:prstGeom>
          <a:noFill/>
          <a:ln/>
        </p:spPr>
        <p:txBody>
          <a:bodyPr wrap="square" lIns="0" tIns="0" rIns="0" bIns="0" rtlCol="0" anchor="t">
            <a:spAutoFit/>
          </a:bodyPr>
          <a:lstStyle/>
          <a:p>
            <a:pPr algn="l" indent="0" marL="0">
              <a:buNone/>
            </a:pPr>
            <a:r>
              <a:rPr lang="en-US" sz="950" dirty="0">
                <a:solidFill>
                  <a:srgbClr val="D64545"/>
                </a:solidFill>
                <a:latin typeface="Roboto Mono Medium" pitchFamily="34" charset="0"/>
                <a:ea typeface="Roboto Mono Medium" pitchFamily="34" charset="-122"/>
                <a:cs typeface="Roboto Mono Medium" pitchFamily="34" charset="-120"/>
              </a:rPr>
              <a:t>[ THE COGNIVITI ADVANTAGE ]</a:t>
            </a:r>
            <a:endParaRPr lang="en-US" sz="950" dirty="0"/>
          </a:p>
        </p:txBody>
      </p:sp>
      <p:sp>
        <p:nvSpPr>
          <p:cNvPr id="23" name="Text 19"/>
          <p:cNvSpPr/>
          <p:nvPr/>
        </p:nvSpPr>
        <p:spPr>
          <a:xfrm>
            <a:off x="4879181" y="2000250"/>
            <a:ext cx="36147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REASONING CHAIN</a:t>
            </a:r>
            <a:endParaRPr lang="en-US" sz="1100" dirty="0"/>
          </a:p>
        </p:txBody>
      </p:sp>
      <p:sp>
        <p:nvSpPr>
          <p:cNvPr id="24" name="Text 20"/>
          <p:cNvSpPr/>
          <p:nvPr/>
        </p:nvSpPr>
        <p:spPr>
          <a:xfrm>
            <a:off x="4879181" y="2336006"/>
            <a:ext cx="3614738"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Cogniviti provides a </a:t>
            </a:r>
            <a:r>
              <a:rPr lang="en-US" sz="950" dirty="0">
                <a:solidFill>
                  <a:srgbClr val="1992D4"/>
                </a:solidFill>
                <a:latin typeface="Inter Light" pitchFamily="34" charset="0"/>
                <a:ea typeface="Inter Light" pitchFamily="34" charset="-122"/>
                <a:cs typeface="Inter Light" pitchFamily="34" charset="-120"/>
              </a:rPr>
              <a:t>citable audit trail</a:t>
            </a:r>
            <a:r>
              <a:rPr lang="en-US" sz="950" dirty="0">
                <a:solidFill>
                  <a:srgbClr val="334E68"/>
                </a:solidFill>
                <a:latin typeface="Inter Light" pitchFamily="34" charset="0"/>
                <a:ea typeface="Inter Light" pitchFamily="34" charset="-122"/>
                <a:cs typeface="Inter Light" pitchFamily="34" charset="-120"/>
              </a:rPr>
              <a:t> for every flag, moving </a:t>
            </a:r>
            <a:r>
              <a:rPr lang="en-US" sz="950" dirty="0">
                <a:solidFill>
                  <a:srgbClr val="334E68"/>
                </a:solidFill>
                <a:latin typeface="Inter Light" pitchFamily="34" charset="0"/>
                <a:ea typeface="Inter Light" pitchFamily="34" charset="-122"/>
                <a:cs typeface="Inter Light" pitchFamily="34" charset="-120"/>
              </a:rPr>
              <a:t>beyond "unusual" to specific policy violations.</a:t>
            </a:r>
            <a:endParaRPr lang="en-US" sz="950" dirty="0"/>
          </a:p>
        </p:txBody>
      </p:sp>
      <p:sp>
        <p:nvSpPr>
          <p:cNvPr id="25" name="Text 21"/>
          <p:cNvSpPr/>
          <p:nvPr/>
        </p:nvSpPr>
        <p:spPr>
          <a:xfrm>
            <a:off x="4879181" y="3193256"/>
            <a:ext cx="36147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REDUCED ABRASION</a:t>
            </a:r>
            <a:endParaRPr lang="en-US" sz="1100" dirty="0"/>
          </a:p>
        </p:txBody>
      </p:sp>
      <p:sp>
        <p:nvSpPr>
          <p:cNvPr id="26" name="Text 22"/>
          <p:cNvSpPr/>
          <p:nvPr/>
        </p:nvSpPr>
        <p:spPr>
          <a:xfrm>
            <a:off x="4879181" y="3529013"/>
            <a:ext cx="3614738" cy="385763"/>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Clear, policy-backed explanations reduce provider disputes </a:t>
            </a:r>
            <a:r>
              <a:rPr lang="en-US" sz="950" dirty="0">
                <a:solidFill>
                  <a:srgbClr val="334E68"/>
                </a:solidFill>
                <a:latin typeface="Inter Light" pitchFamily="34" charset="0"/>
                <a:ea typeface="Inter Light" pitchFamily="34" charset="-122"/>
                <a:cs typeface="Inter Light" pitchFamily="34" charset="-120"/>
              </a:rPr>
              <a:t>and appeals, fostering </a:t>
            </a:r>
            <a:r>
              <a:rPr lang="en-US" sz="950" dirty="0">
                <a:solidFill>
                  <a:srgbClr val="1992D4"/>
                </a:solidFill>
                <a:latin typeface="Inter Light" pitchFamily="34" charset="0"/>
                <a:ea typeface="Inter Light" pitchFamily="34" charset="-122"/>
                <a:cs typeface="Inter Light" pitchFamily="34" charset="-120"/>
              </a:rPr>
              <a:t>trust across the ecosystem</a:t>
            </a:r>
            <a:r>
              <a:rPr lang="en-US" sz="950" dirty="0">
                <a:solidFill>
                  <a:srgbClr val="334E68"/>
                </a:solidFill>
                <a:latin typeface="Inter Light" pitchFamily="34" charset="0"/>
                <a:ea typeface="Inter Light" pitchFamily="34" charset="-122"/>
                <a:cs typeface="Inter Light" pitchFamily="34" charset="-120"/>
              </a:rPr>
              <a:t>.</a:t>
            </a:r>
            <a:endParaRPr lang="en-US" sz="950" dirty="0"/>
          </a:p>
        </p:txBody>
      </p:sp>
      <p:sp>
        <p:nvSpPr>
          <p:cNvPr id="27" name="Text 23"/>
          <p:cNvSpPr/>
          <p:nvPr/>
        </p:nvSpPr>
        <p:spPr>
          <a:xfrm>
            <a:off x="428625" y="4816673"/>
            <a:ext cx="3418284" cy="112514"/>
          </a:xfrm>
          <a:prstGeom prst="rect">
            <a:avLst/>
          </a:prstGeom>
          <a:noFill/>
          <a:ln/>
        </p:spPr>
        <p:txBody>
          <a:bodyPr wrap="square" lIns="0" tIns="0" rIns="0" bIns="0" rtlCol="0" anchor="t">
            <a:spAutoFit/>
          </a:bodyPr>
          <a:lstStyle/>
          <a:p>
            <a:pPr algn="l" indent="0" marL="0">
              <a:buNone/>
            </a:pPr>
            <a:r>
              <a:rPr lang="en-US" sz="600" dirty="0">
                <a:solidFill>
                  <a:srgbClr val="102A43">
                    <a:alpha val="50000"/>
                  </a:srgbClr>
                </a:solidFill>
                <a:latin typeface="Roboto Mono Medium" pitchFamily="34" charset="0"/>
                <a:ea typeface="Roboto Mono Medium" pitchFamily="34" charset="-122"/>
                <a:cs typeface="Roboto Mono Medium" pitchFamily="34" charset="-120"/>
              </a:rPr>
              <a:t>REFERENCE: NAIC AI MODEL BULLETIN &amp; STATE LEGISLATIVE TRACKER 2026</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MARKET OPPORTUNITY &amp; ROI</a:t>
            </a:r>
            <a:endParaRPr lang="en-US" sz="2600" dirty="0"/>
          </a:p>
        </p:txBody>
      </p:sp>
      <p:sp>
        <p:nvSpPr>
          <p:cNvPr id="17" name="Text 13"/>
          <p:cNvSpPr/>
          <p:nvPr/>
        </p:nvSpPr>
        <p:spPr>
          <a:xfrm>
            <a:off x="1325752" y="1530548"/>
            <a:ext cx="825103" cy="601861"/>
          </a:xfrm>
          <a:prstGeom prst="rect">
            <a:avLst/>
          </a:prstGeom>
          <a:noFill/>
          <a:ln/>
        </p:spPr>
        <p:txBody>
          <a:bodyPr wrap="none" lIns="0" tIns="0" rIns="0" bIns="0" rtlCol="0" anchor="t">
            <a:spAutoFit/>
          </a:bodyPr>
          <a:lstStyle/>
          <a:p>
            <a:pPr algn="ctr" indent="0" marL="0">
              <a:buNone/>
            </a:pPr>
            <a:r>
              <a:rPr lang="en-US" sz="3500" dirty="0">
                <a:solidFill>
                  <a:srgbClr val="D64545"/>
                </a:solidFill>
                <a:latin typeface="Roboto Mono Medium" pitchFamily="34" charset="0"/>
                <a:ea typeface="Roboto Mono Medium" pitchFamily="34" charset="-122"/>
                <a:cs typeface="Roboto Mono Medium" pitchFamily="34" charset="-120"/>
              </a:rPr>
              <a:t>94%</a:t>
            </a:r>
            <a:endParaRPr lang="en-US" sz="3500" dirty="0"/>
          </a:p>
        </p:txBody>
      </p:sp>
      <p:sp>
        <p:nvSpPr>
          <p:cNvPr id="18" name="Text 14"/>
          <p:cNvSpPr/>
          <p:nvPr/>
        </p:nvSpPr>
        <p:spPr>
          <a:xfrm>
            <a:off x="1479342" y="2346136"/>
            <a:ext cx="517922" cy="226814"/>
          </a:xfrm>
          <a:prstGeom prst="rect">
            <a:avLst/>
          </a:prstGeom>
          <a:noFill/>
          <a:ln/>
        </p:spPr>
        <p:txBody>
          <a:bodyPr wrap="none" lIns="0" tIns="0" rIns="0" bIns="0" rtlCol="0" anchor="t">
            <a:spAutoFit/>
          </a:bodyPr>
          <a:lstStyle/>
          <a:p>
            <a:pPr algn="ctr" indent="0" marL="0">
              <a:buNone/>
            </a:pPr>
            <a:r>
              <a:rPr lang="en-US" sz="1200" b="1" dirty="0">
                <a:solidFill>
                  <a:srgbClr val="102A43"/>
                </a:solidFill>
                <a:latin typeface="Roboto Mono Medium" pitchFamily="34" charset="0"/>
                <a:ea typeface="Roboto Mono Medium" pitchFamily="34" charset="-122"/>
                <a:cs typeface="Roboto Mono Medium" pitchFamily="34" charset="-120"/>
              </a:rPr>
              <a:t>SPEED</a:t>
            </a:r>
            <a:endParaRPr lang="en-US" sz="1200" dirty="0"/>
          </a:p>
        </p:txBody>
      </p:sp>
      <p:sp>
        <p:nvSpPr>
          <p:cNvPr id="19" name="Text 15"/>
          <p:cNvSpPr/>
          <p:nvPr/>
        </p:nvSpPr>
        <p:spPr>
          <a:xfrm>
            <a:off x="650081" y="2844412"/>
            <a:ext cx="2176444" cy="771525"/>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Reducing time-to-results from 90+ days to under 5 days through integrated pre- and post-pay automation.</a:t>
            </a:r>
            <a:endParaRPr lang="en-US" sz="950" dirty="0"/>
          </a:p>
        </p:txBody>
      </p:sp>
      <p:sp>
        <p:nvSpPr>
          <p:cNvPr id="20" name="Text 16"/>
          <p:cNvSpPr/>
          <p:nvPr/>
        </p:nvSpPr>
        <p:spPr>
          <a:xfrm>
            <a:off x="4296938" y="1530548"/>
            <a:ext cx="550069" cy="601861"/>
          </a:xfrm>
          <a:prstGeom prst="rect">
            <a:avLst/>
          </a:prstGeom>
          <a:noFill/>
          <a:ln/>
        </p:spPr>
        <p:txBody>
          <a:bodyPr wrap="none" lIns="0" tIns="0" rIns="0" bIns="0" rtlCol="0" anchor="t">
            <a:spAutoFit/>
          </a:bodyPr>
          <a:lstStyle/>
          <a:p>
            <a:pPr algn="ctr" indent="0" marL="0">
              <a:buNone/>
            </a:pPr>
            <a:r>
              <a:rPr lang="en-US" sz="3500" dirty="0">
                <a:solidFill>
                  <a:srgbClr val="D64545"/>
                </a:solidFill>
                <a:latin typeface="Roboto Mono Medium" pitchFamily="34" charset="0"/>
                <a:ea typeface="Roboto Mono Medium" pitchFamily="34" charset="-122"/>
                <a:cs typeface="Roboto Mono Medium" pitchFamily="34" charset="-120"/>
              </a:rPr>
              <a:t>3X</a:t>
            </a:r>
            <a:endParaRPr lang="en-US" sz="3500" dirty="0"/>
          </a:p>
        </p:txBody>
      </p:sp>
      <p:sp>
        <p:nvSpPr>
          <p:cNvPr id="21" name="Text 17"/>
          <p:cNvSpPr/>
          <p:nvPr/>
        </p:nvSpPr>
        <p:spPr>
          <a:xfrm>
            <a:off x="4054050" y="2346136"/>
            <a:ext cx="1035844" cy="226814"/>
          </a:xfrm>
          <a:prstGeom prst="rect">
            <a:avLst/>
          </a:prstGeom>
          <a:noFill/>
          <a:ln/>
        </p:spPr>
        <p:txBody>
          <a:bodyPr wrap="none" lIns="0" tIns="0" rIns="0" bIns="0" rtlCol="0" anchor="t">
            <a:spAutoFit/>
          </a:bodyPr>
          <a:lstStyle/>
          <a:p>
            <a:pPr algn="ctr" indent="0" marL="0">
              <a:buNone/>
            </a:pPr>
            <a:r>
              <a:rPr lang="en-US" sz="1200" b="1" dirty="0">
                <a:solidFill>
                  <a:srgbClr val="102A43"/>
                </a:solidFill>
                <a:latin typeface="Roboto Mono Medium" pitchFamily="34" charset="0"/>
                <a:ea typeface="Roboto Mono Medium" pitchFamily="34" charset="-122"/>
                <a:cs typeface="Roboto Mono Medium" pitchFamily="34" charset="-120"/>
              </a:rPr>
              <a:t>EFFICIENCY</a:t>
            </a:r>
            <a:endParaRPr lang="en-US" sz="1200" dirty="0"/>
          </a:p>
        </p:txBody>
      </p:sp>
      <p:sp>
        <p:nvSpPr>
          <p:cNvPr id="22" name="Text 18"/>
          <p:cNvSpPr/>
          <p:nvPr/>
        </p:nvSpPr>
        <p:spPr>
          <a:xfrm>
            <a:off x="3483750" y="2844412"/>
            <a:ext cx="2176472" cy="578644"/>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Automated drafting of review rationales allows analysts to triple their daily claim validation volume.</a:t>
            </a:r>
            <a:endParaRPr lang="en-US" sz="950" dirty="0"/>
          </a:p>
        </p:txBody>
      </p:sp>
      <p:sp>
        <p:nvSpPr>
          <p:cNvPr id="23" name="Text 19"/>
          <p:cNvSpPr/>
          <p:nvPr/>
        </p:nvSpPr>
        <p:spPr>
          <a:xfrm>
            <a:off x="6993117" y="1530548"/>
            <a:ext cx="825103" cy="601861"/>
          </a:xfrm>
          <a:prstGeom prst="rect">
            <a:avLst/>
          </a:prstGeom>
          <a:noFill/>
          <a:ln/>
        </p:spPr>
        <p:txBody>
          <a:bodyPr wrap="none" lIns="0" tIns="0" rIns="0" bIns="0" rtlCol="0" anchor="t">
            <a:spAutoFit/>
          </a:bodyPr>
          <a:lstStyle/>
          <a:p>
            <a:pPr algn="ctr" indent="0" marL="0">
              <a:buNone/>
            </a:pPr>
            <a:r>
              <a:rPr lang="en-US" sz="3500" dirty="0">
                <a:solidFill>
                  <a:srgbClr val="D64545"/>
                </a:solidFill>
                <a:latin typeface="Roboto Mono Medium" pitchFamily="34" charset="0"/>
                <a:ea typeface="Roboto Mono Medium" pitchFamily="34" charset="-122"/>
                <a:cs typeface="Roboto Mono Medium" pitchFamily="34" charset="-120"/>
              </a:rPr>
              <a:t>80%</a:t>
            </a:r>
            <a:endParaRPr lang="en-US" sz="3500" dirty="0"/>
          </a:p>
        </p:txBody>
      </p:sp>
      <p:sp>
        <p:nvSpPr>
          <p:cNvPr id="24" name="Text 20"/>
          <p:cNvSpPr/>
          <p:nvPr/>
        </p:nvSpPr>
        <p:spPr>
          <a:xfrm>
            <a:off x="7043124" y="2346136"/>
            <a:ext cx="725091" cy="226814"/>
          </a:xfrm>
          <a:prstGeom prst="rect">
            <a:avLst/>
          </a:prstGeom>
          <a:noFill/>
          <a:ln/>
        </p:spPr>
        <p:txBody>
          <a:bodyPr wrap="none" lIns="0" tIns="0" rIns="0" bIns="0" rtlCol="0" anchor="t">
            <a:spAutoFit/>
          </a:bodyPr>
          <a:lstStyle/>
          <a:p>
            <a:pPr algn="ctr" indent="0" marL="0">
              <a:buNone/>
            </a:pPr>
            <a:r>
              <a:rPr lang="en-US" sz="1200" b="1" dirty="0">
                <a:solidFill>
                  <a:srgbClr val="102A43"/>
                </a:solidFill>
                <a:latin typeface="Roboto Mono Medium" pitchFamily="34" charset="0"/>
                <a:ea typeface="Roboto Mono Medium" pitchFamily="34" charset="-122"/>
                <a:cs typeface="Roboto Mono Medium" pitchFamily="34" charset="-120"/>
              </a:rPr>
              <a:t>SAVINGS</a:t>
            </a:r>
            <a:endParaRPr lang="en-US" sz="1200" dirty="0"/>
          </a:p>
        </p:txBody>
      </p:sp>
      <p:sp>
        <p:nvSpPr>
          <p:cNvPr id="25" name="Text 21"/>
          <p:cNvSpPr/>
          <p:nvPr/>
        </p:nvSpPr>
        <p:spPr>
          <a:xfrm>
            <a:off x="6317447" y="2844412"/>
            <a:ext cx="2176444" cy="578644"/>
          </a:xfrm>
          <a:prstGeom prst="rect">
            <a:avLst/>
          </a:prstGeom>
          <a:noFill/>
          <a:ln/>
        </p:spPr>
        <p:txBody>
          <a:bodyPr wrap="square" lIns="0" tIns="0" rIns="0" bIns="0" rtlCol="0" anchor="t">
            <a:spAutoFit/>
          </a:bodyPr>
          <a:lstStyle/>
          <a:p>
            <a:pPr algn="ctr" indent="0" marL="0">
              <a:lnSpc>
                <a:spcPct val="120000"/>
              </a:lnSpc>
              <a:buNone/>
            </a:pPr>
            <a:r>
              <a:rPr lang="en-US" sz="950" dirty="0">
                <a:solidFill>
                  <a:srgbClr val="334E68"/>
                </a:solidFill>
                <a:latin typeface="Inter Light" pitchFamily="34" charset="0"/>
                <a:ea typeface="Inter Light" pitchFamily="34" charset="-122"/>
                <a:cs typeface="Inter Light" pitchFamily="34" charset="-120"/>
              </a:rPr>
              <a:t>Realizing 80% of overpaid findings as actual cost savings for health plans by reducing provider friction.</a:t>
            </a:r>
            <a:endParaRPr lang="en-US" sz="950" dirty="0"/>
          </a:p>
        </p:txBody>
      </p:sp>
      <p:sp>
        <p:nvSpPr>
          <p:cNvPr id="26" name="Text 22"/>
          <p:cNvSpPr/>
          <p:nvPr/>
        </p:nvSpPr>
        <p:spPr>
          <a:xfrm>
            <a:off x="0" y="4395192"/>
            <a:ext cx="9144000" cy="541139"/>
          </a:xfrm>
          <a:prstGeom prst="rect">
            <a:avLst/>
          </a:prstGeom>
          <a:noFill/>
          <a:ln/>
        </p:spPr>
        <p:txBody>
          <a:bodyPr wrap="square" lIns="510286" tIns="510286" rIns="0" bIns="0" rtlCol="0" anchor="t">
            <a:spAutoFit/>
          </a:bodyPr>
          <a:lstStyle/>
          <a:p>
            <a:pPr algn="l" indent="0" marL="0">
              <a:buNone/>
            </a:pPr>
            <a:r>
              <a:rPr lang="en-US" sz="600" dirty="0">
                <a:solidFill>
                  <a:srgbClr val="102A43">
                    <a:alpha val="50000"/>
                  </a:srgbClr>
                </a:solidFill>
                <a:latin typeface="Roboto Mono Medium" pitchFamily="34" charset="0"/>
                <a:ea typeface="Roboto Mono Medium" pitchFamily="34" charset="-122"/>
                <a:cs typeface="Roboto Mono Medium" pitchFamily="34" charset="-120"/>
              </a:rPr>
              <a:t>SOURCE: COTIVITI CLIENT RESULTS &amp; COGNIVITI PROJECTIONS 2026</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STRATEGIC RECOMMENDATIONS</a:t>
            </a:r>
            <a:endParaRPr lang="en-US" sz="2600" dirty="0"/>
          </a:p>
        </p:txBody>
      </p:sp>
      <p:sp>
        <p:nvSpPr>
          <p:cNvPr id="17" name="Text 13"/>
          <p:cNvSpPr/>
          <p:nvPr/>
        </p:nvSpPr>
        <p:spPr>
          <a:xfrm>
            <a:off x="650081" y="1629668"/>
            <a:ext cx="571500" cy="301823"/>
          </a:xfrm>
          <a:prstGeom prst="rect">
            <a:avLst/>
          </a:prstGeom>
          <a:noFill/>
          <a:ln/>
        </p:spPr>
        <p:txBody>
          <a:bodyPr wrap="none" lIns="0" tIns="0" rIns="0" bIns="0" rtlCol="0" anchor="t">
            <a:spAutoFit/>
          </a:bodyPr>
          <a:lstStyle/>
          <a:p>
            <a:pPr algn="l" indent="0" marL="0">
              <a:buNone/>
            </a:pPr>
            <a:r>
              <a:rPr lang="en-US" sz="1700" dirty="0">
                <a:solidFill>
                  <a:srgbClr val="D64545"/>
                </a:solidFill>
                <a:latin typeface="Roboto Mono Medium" pitchFamily="34" charset="0"/>
                <a:ea typeface="Roboto Mono Medium" pitchFamily="34" charset="-122"/>
                <a:cs typeface="Roboto Mono Medium" pitchFamily="34" charset="-120"/>
              </a:rPr>
              <a:t>01</a:t>
            </a:r>
            <a:endParaRPr lang="en-US" sz="1700" dirty="0"/>
          </a:p>
        </p:txBody>
      </p:sp>
      <p:sp>
        <p:nvSpPr>
          <p:cNvPr id="18" name="Text 14"/>
          <p:cNvSpPr/>
          <p:nvPr/>
        </p:nvSpPr>
        <p:spPr>
          <a:xfrm>
            <a:off x="1221581" y="1523600"/>
            <a:ext cx="72723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"DETECT AND EXPLAIN"</a:t>
            </a:r>
            <a:endParaRPr lang="en-US" sz="1100" dirty="0"/>
          </a:p>
        </p:txBody>
      </p:sp>
      <p:sp>
        <p:nvSpPr>
          <p:cNvPr id="19" name="Text 15"/>
          <p:cNvSpPr/>
          <p:nvPr/>
        </p:nvSpPr>
        <p:spPr>
          <a:xfrm>
            <a:off x="1221581" y="1859356"/>
            <a:ext cx="7272338" cy="18001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Pair current data-mining models with an </a:t>
            </a:r>
            <a:r>
              <a:rPr lang="en-US" sz="950" dirty="0">
                <a:solidFill>
                  <a:srgbClr val="1992D4"/>
                </a:solidFill>
                <a:latin typeface="Inter Light" pitchFamily="34" charset="0"/>
                <a:ea typeface="Inter Light" pitchFamily="34" charset="-122"/>
                <a:cs typeface="Inter Light" pitchFamily="34" charset="-120"/>
              </a:rPr>
              <a:t>AI explanation layer</a:t>
            </a:r>
            <a:r>
              <a:rPr lang="en-US" sz="950" dirty="0">
                <a:solidFill>
                  <a:srgbClr val="334E68"/>
                </a:solidFill>
                <a:latin typeface="Inter Light" pitchFamily="34" charset="0"/>
                <a:ea typeface="Inter Light" pitchFamily="34" charset="-122"/>
                <a:cs typeface="Inter Light" pitchFamily="34" charset="-120"/>
              </a:rPr>
              <a:t> for instant, policy-based citations on every flagged claim.</a:t>
            </a:r>
            <a:endParaRPr lang="en-US" sz="950" dirty="0"/>
          </a:p>
        </p:txBody>
      </p:sp>
      <p:sp>
        <p:nvSpPr>
          <p:cNvPr id="20" name="Text 16"/>
          <p:cNvSpPr/>
          <p:nvPr/>
        </p:nvSpPr>
        <p:spPr>
          <a:xfrm>
            <a:off x="650081" y="2835734"/>
            <a:ext cx="571500" cy="301823"/>
          </a:xfrm>
          <a:prstGeom prst="rect">
            <a:avLst/>
          </a:prstGeom>
          <a:noFill/>
          <a:ln/>
        </p:spPr>
        <p:txBody>
          <a:bodyPr wrap="none" lIns="0" tIns="0" rIns="0" bIns="0" rtlCol="0" anchor="t">
            <a:spAutoFit/>
          </a:bodyPr>
          <a:lstStyle/>
          <a:p>
            <a:pPr algn="l" indent="0" marL="0">
              <a:buNone/>
            </a:pPr>
            <a:r>
              <a:rPr lang="en-US" sz="1700" dirty="0">
                <a:solidFill>
                  <a:srgbClr val="D64545"/>
                </a:solidFill>
                <a:latin typeface="Roboto Mono Medium" pitchFamily="34" charset="0"/>
                <a:ea typeface="Roboto Mono Medium" pitchFamily="34" charset="-122"/>
                <a:cs typeface="Roboto Mono Medium" pitchFamily="34" charset="-120"/>
              </a:rPr>
              <a:t>02</a:t>
            </a:r>
            <a:endParaRPr lang="en-US" sz="1700" dirty="0"/>
          </a:p>
        </p:txBody>
      </p:sp>
      <p:sp>
        <p:nvSpPr>
          <p:cNvPr id="21" name="Text 17"/>
          <p:cNvSpPr/>
          <p:nvPr/>
        </p:nvSpPr>
        <p:spPr>
          <a:xfrm>
            <a:off x="1221581" y="2639671"/>
            <a:ext cx="72723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AGENTIC COPILOT</a:t>
            </a:r>
            <a:endParaRPr lang="en-US" sz="1100" dirty="0"/>
          </a:p>
        </p:txBody>
      </p:sp>
      <p:sp>
        <p:nvSpPr>
          <p:cNvPr id="22" name="Text 18"/>
          <p:cNvSpPr/>
          <p:nvPr/>
        </p:nvSpPr>
        <p:spPr>
          <a:xfrm>
            <a:off x="1221581" y="2975428"/>
            <a:ext cx="7272338"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Build an </a:t>
            </a:r>
            <a:r>
              <a:rPr lang="en-US" sz="950" dirty="0">
                <a:solidFill>
                  <a:srgbClr val="1992D4"/>
                </a:solidFill>
                <a:latin typeface="Inter Light" pitchFamily="34" charset="0"/>
                <a:ea typeface="Inter Light" pitchFamily="34" charset="-122"/>
                <a:cs typeface="Inter Light" pitchFamily="34" charset="-120"/>
              </a:rPr>
              <a:t>analyst-first tool</a:t>
            </a:r>
            <a:r>
              <a:rPr lang="en-US" sz="950" dirty="0">
                <a:solidFill>
                  <a:srgbClr val="334E68"/>
                </a:solidFill>
                <a:latin typeface="Inter Light" pitchFamily="34" charset="0"/>
                <a:ea typeface="Inter Light" pitchFamily="34" charset="-122"/>
                <a:cs typeface="Inter Light" pitchFamily="34" charset="-120"/>
              </a:rPr>
              <a:t> that automatically drafts rationales and routes claims for human oversight, tripling review </a:t>
            </a:r>
            <a:r>
              <a:rPr lang="en-US" sz="950" dirty="0">
                <a:solidFill>
                  <a:srgbClr val="334E68"/>
                </a:solidFill>
                <a:latin typeface="Inter Light" pitchFamily="34" charset="0"/>
                <a:ea typeface="Inter Light" pitchFamily="34" charset="-122"/>
                <a:cs typeface="Inter Light" pitchFamily="34" charset="-120"/>
              </a:rPr>
              <a:t>capacity.</a:t>
            </a:r>
            <a:endParaRPr lang="en-US" sz="950" dirty="0"/>
          </a:p>
        </p:txBody>
      </p:sp>
      <p:sp>
        <p:nvSpPr>
          <p:cNvPr id="23" name="Text 19"/>
          <p:cNvSpPr/>
          <p:nvPr/>
        </p:nvSpPr>
        <p:spPr>
          <a:xfrm>
            <a:off x="650081" y="4054859"/>
            <a:ext cx="571500" cy="301823"/>
          </a:xfrm>
          <a:prstGeom prst="rect">
            <a:avLst/>
          </a:prstGeom>
          <a:noFill/>
          <a:ln/>
        </p:spPr>
        <p:txBody>
          <a:bodyPr wrap="none" lIns="0" tIns="0" rIns="0" bIns="0" rtlCol="0" anchor="t">
            <a:spAutoFit/>
          </a:bodyPr>
          <a:lstStyle/>
          <a:p>
            <a:pPr algn="l" indent="0" marL="0">
              <a:buNone/>
            </a:pPr>
            <a:r>
              <a:rPr lang="en-US" sz="1700" dirty="0">
                <a:solidFill>
                  <a:srgbClr val="D64545"/>
                </a:solidFill>
                <a:latin typeface="Roboto Mono Medium" pitchFamily="34" charset="0"/>
                <a:ea typeface="Roboto Mono Medium" pitchFamily="34" charset="-122"/>
                <a:cs typeface="Roboto Mono Medium" pitchFamily="34" charset="-120"/>
              </a:rPr>
              <a:t>03</a:t>
            </a:r>
            <a:endParaRPr lang="en-US" sz="1700" dirty="0"/>
          </a:p>
        </p:txBody>
      </p:sp>
      <p:sp>
        <p:nvSpPr>
          <p:cNvPr id="24" name="Text 20"/>
          <p:cNvSpPr/>
          <p:nvPr/>
        </p:nvSpPr>
        <p:spPr>
          <a:xfrm>
            <a:off x="1221581" y="3858797"/>
            <a:ext cx="7272338" cy="207169"/>
          </a:xfrm>
          <a:prstGeom prst="rect">
            <a:avLst/>
          </a:prstGeom>
          <a:noFill/>
          <a:ln/>
        </p:spPr>
        <p:txBody>
          <a:bodyPr wrap="square" lIns="0" tIns="0" rIns="0" bIns="0" rtlCol="0" anchor="t">
            <a:spAutoFit/>
          </a:bodyPr>
          <a:lstStyle/>
          <a:p>
            <a:pPr algn="l" indent="0" marL="0">
              <a:buNone/>
            </a:pPr>
            <a:r>
              <a:rPr lang="en-US" sz="1100" b="1" dirty="0">
                <a:solidFill>
                  <a:srgbClr val="102A43"/>
                </a:solidFill>
                <a:latin typeface="Roboto Mono Medium" pitchFamily="34" charset="0"/>
                <a:ea typeface="Roboto Mono Medium" pitchFamily="34" charset="-122"/>
                <a:cs typeface="Roboto Mono Medium" pitchFamily="34" charset="-120"/>
              </a:rPr>
              <a:t>COMPLIANCE-AS-A-SERVICE</a:t>
            </a:r>
            <a:endParaRPr lang="en-US" sz="1100" dirty="0"/>
          </a:p>
        </p:txBody>
      </p:sp>
      <p:sp>
        <p:nvSpPr>
          <p:cNvPr id="25" name="Text 21"/>
          <p:cNvSpPr/>
          <p:nvPr/>
        </p:nvSpPr>
        <p:spPr>
          <a:xfrm>
            <a:off x="1221581" y="4194553"/>
            <a:ext cx="7272338"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Prioritize </a:t>
            </a:r>
            <a:r>
              <a:rPr lang="en-US" sz="950" dirty="0">
                <a:solidFill>
                  <a:srgbClr val="1992D4"/>
                </a:solidFill>
                <a:latin typeface="Inter Light" pitchFamily="34" charset="0"/>
                <a:ea typeface="Inter Light" pitchFamily="34" charset="-122"/>
                <a:cs typeface="Inter Light" pitchFamily="34" charset="-120"/>
              </a:rPr>
              <a:t>audit logs and bias testing</a:t>
            </a:r>
            <a:r>
              <a:rPr lang="en-US" sz="950" dirty="0">
                <a:solidFill>
                  <a:srgbClr val="334E68"/>
                </a:solidFill>
                <a:latin typeface="Inter Light" pitchFamily="34" charset="0"/>
                <a:ea typeface="Inter Light" pitchFamily="34" charset="-122"/>
                <a:cs typeface="Inter Light" pitchFamily="34" charset="-120"/>
              </a:rPr>
              <a:t> as core product features to outpace legacy competitors in the new regulatory </a:t>
            </a:r>
            <a:r>
              <a:rPr lang="en-US" sz="950" dirty="0">
                <a:solidFill>
                  <a:srgbClr val="334E68"/>
                </a:solidFill>
                <a:latin typeface="Inter Light" pitchFamily="34" charset="0"/>
                <a:ea typeface="Inter Light" pitchFamily="34" charset="-122"/>
                <a:cs typeface="Inter Light" pitchFamily="34" charset="-120"/>
              </a:rPr>
              <a:t>landscape.</a:t>
            </a:r>
            <a:endParaRPr lang="en-US" sz="950" dirty="0"/>
          </a:p>
        </p:txBody>
      </p:sp>
      <p:sp>
        <p:nvSpPr>
          <p:cNvPr id="26" name="Text 22"/>
          <p:cNvSpPr/>
          <p:nvPr/>
        </p:nvSpPr>
        <p:spPr>
          <a:xfrm>
            <a:off x="0" y="4690318"/>
            <a:ext cx="9144000" cy="398264"/>
          </a:xfrm>
          <a:prstGeom prst="rect">
            <a:avLst/>
          </a:prstGeom>
          <a:noFill/>
          <a:ln/>
        </p:spPr>
        <p:txBody>
          <a:bodyPr wrap="square" lIns="510286" tIns="340233" rIns="0" bIns="0" rtlCol="0" anchor="t">
            <a:spAutoFit/>
          </a:bodyPr>
          <a:lstStyle/>
          <a:p>
            <a:pPr algn="l" indent="0" marL="0">
              <a:buNone/>
            </a:pPr>
            <a:r>
              <a:rPr lang="en-US" sz="600" dirty="0">
                <a:solidFill>
                  <a:srgbClr val="102A43">
                    <a:alpha val="50000"/>
                  </a:srgbClr>
                </a:solidFill>
                <a:latin typeface="Roboto Mono Medium" pitchFamily="34" charset="0"/>
                <a:ea typeface="Roboto Mono Medium" pitchFamily="34" charset="-122"/>
                <a:cs typeface="Roboto Mono Medium" pitchFamily="34" charset="-120"/>
              </a:rPr>
              <a:t>COGNIVITI STRATEGIC ROADMAP 2026-2027</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Text 12"/>
          <p:cNvSpPr/>
          <p:nvPr/>
        </p:nvSpPr>
        <p:spPr>
          <a:xfrm>
            <a:off x="428625" y="428625"/>
            <a:ext cx="8715375" cy="451842"/>
          </a:xfrm>
          <a:prstGeom prst="rect">
            <a:avLst/>
          </a:prstGeom>
          <a:noFill/>
          <a:ln/>
        </p:spPr>
        <p:txBody>
          <a:bodyPr wrap="square" lIns="0" tIns="0" rIns="0" bIns="0" rtlCol="0" anchor="t">
            <a:spAutoFit/>
          </a:bodyPr>
          <a:lstStyle/>
          <a:p>
            <a:pPr algn="l" indent="0" marL="0">
              <a:buNone/>
            </a:pPr>
            <a:r>
              <a:rPr lang="en-US" sz="2600" dirty="0">
                <a:solidFill>
                  <a:srgbClr val="102A43"/>
                </a:solidFill>
                <a:latin typeface="Roboto Mono Medium" pitchFamily="34" charset="0"/>
                <a:ea typeface="Roboto Mono Medium" pitchFamily="34" charset="-122"/>
                <a:cs typeface="Roboto Mono Medium" pitchFamily="34" charset="-120"/>
              </a:rPr>
              <a:t>CAPTURING THE OPPORTUNITY</a:t>
            </a:r>
            <a:endParaRPr lang="en-US" sz="2600" dirty="0"/>
          </a:p>
        </p:txBody>
      </p:sp>
      <p:sp>
        <p:nvSpPr>
          <p:cNvPr id="17" name="Text 13"/>
          <p:cNvSpPr/>
          <p:nvPr/>
        </p:nvSpPr>
        <p:spPr>
          <a:xfrm>
            <a:off x="614363" y="1351955"/>
            <a:ext cx="3686175"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01 // EXPERTISE</a:t>
            </a:r>
            <a:endParaRPr lang="en-US" sz="750" dirty="0"/>
          </a:p>
        </p:txBody>
      </p:sp>
      <p:sp>
        <p:nvSpPr>
          <p:cNvPr id="18" name="Text 14"/>
          <p:cNvSpPr/>
          <p:nvPr/>
        </p:nvSpPr>
        <p:spPr>
          <a:xfrm>
            <a:off x="614363" y="1697841"/>
            <a:ext cx="3686175" cy="226814"/>
          </a:xfrm>
          <a:prstGeom prst="rect">
            <a:avLst/>
          </a:prstGeom>
          <a:noFill/>
          <a:ln/>
        </p:spPr>
        <p:txBody>
          <a:bodyPr wrap="square" lIns="0" tIns="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DOMAIN DEPTH</a:t>
            </a:r>
            <a:endParaRPr lang="en-US" sz="1200" dirty="0"/>
          </a:p>
        </p:txBody>
      </p:sp>
      <p:sp>
        <p:nvSpPr>
          <p:cNvPr id="19" name="Text 15"/>
          <p:cNvSpPr/>
          <p:nvPr/>
        </p:nvSpPr>
        <p:spPr>
          <a:xfrm>
            <a:off x="614363" y="2160398"/>
            <a:ext cx="3686175"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Deep understanding of </a:t>
            </a:r>
            <a:r>
              <a:rPr lang="en-US" sz="950" dirty="0">
                <a:solidFill>
                  <a:srgbClr val="1992D4"/>
                </a:solidFill>
                <a:latin typeface="Inter Light" pitchFamily="34" charset="0"/>
                <a:ea typeface="Inter Light" pitchFamily="34" charset="-122"/>
                <a:cs typeface="Inter Light" pitchFamily="34" charset="-120"/>
              </a:rPr>
              <a:t>Clinical Decision Making</a:t>
            </a:r>
            <a:r>
              <a:rPr lang="en-US" sz="950" dirty="0">
                <a:solidFill>
                  <a:srgbClr val="334E68"/>
                </a:solidFill>
                <a:latin typeface="Inter Light" pitchFamily="34" charset="0"/>
                <a:ea typeface="Inter Light" pitchFamily="34" charset="-122"/>
                <a:cs typeface="Inter Light" pitchFamily="34" charset="-120"/>
              </a:rPr>
              <a:t> and Pattern </a:t>
            </a:r>
            <a:r>
              <a:rPr lang="en-US" sz="950" dirty="0">
                <a:solidFill>
                  <a:srgbClr val="334E68"/>
                </a:solidFill>
                <a:latin typeface="Inter Light" pitchFamily="34" charset="0"/>
                <a:ea typeface="Inter Light" pitchFamily="34" charset="-122"/>
                <a:cs typeface="Inter Light" pitchFamily="34" charset="-120"/>
              </a:rPr>
              <a:t>Recognition in TPO domains.</a:t>
            </a:r>
            <a:endParaRPr lang="en-US" sz="950" dirty="0"/>
          </a:p>
        </p:txBody>
      </p:sp>
      <p:sp>
        <p:nvSpPr>
          <p:cNvPr id="20" name="Text 16"/>
          <p:cNvSpPr/>
          <p:nvPr/>
        </p:nvSpPr>
        <p:spPr>
          <a:xfrm>
            <a:off x="4843463" y="1351955"/>
            <a:ext cx="3686175"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02 // INNOVATION</a:t>
            </a:r>
            <a:endParaRPr lang="en-US" sz="750" dirty="0"/>
          </a:p>
        </p:txBody>
      </p:sp>
      <p:sp>
        <p:nvSpPr>
          <p:cNvPr id="21" name="Text 17"/>
          <p:cNvSpPr/>
          <p:nvPr/>
        </p:nvSpPr>
        <p:spPr>
          <a:xfrm>
            <a:off x="4843463" y="1697841"/>
            <a:ext cx="3686175" cy="226814"/>
          </a:xfrm>
          <a:prstGeom prst="rect">
            <a:avLst/>
          </a:prstGeom>
          <a:noFill/>
          <a:ln/>
        </p:spPr>
        <p:txBody>
          <a:bodyPr wrap="square" lIns="0" tIns="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AGENTIC AI</a:t>
            </a:r>
            <a:endParaRPr lang="en-US" sz="1200" dirty="0"/>
          </a:p>
        </p:txBody>
      </p:sp>
      <p:sp>
        <p:nvSpPr>
          <p:cNvPr id="22" name="Text 18"/>
          <p:cNvSpPr/>
          <p:nvPr/>
        </p:nvSpPr>
        <p:spPr>
          <a:xfrm>
            <a:off x="4843463" y="2138521"/>
            <a:ext cx="3686175" cy="360034"/>
          </a:xfrm>
          <a:prstGeom prst="rect">
            <a:avLst/>
          </a:prstGeom>
          <a:noFill/>
          <a:ln/>
        </p:spPr>
        <p:txBody>
          <a:bodyPr wrap="square" lIns="0" tIns="0" rIns="0" bIns="0" rtlCol="0" anchor="t">
            <a:spAutoFit/>
          </a:bodyPr>
          <a:lstStyle/>
          <a:p>
            <a:pPr algn="l" indent="0" marL="0">
              <a:lnSpc>
                <a:spcPct val="112000"/>
              </a:lnSpc>
              <a:buNone/>
            </a:pPr>
            <a:r>
              <a:rPr lang="en-US" sz="900" b="1" dirty="0">
                <a:solidFill>
                  <a:srgbClr val="334E68"/>
                </a:solidFill>
                <a:latin typeface="Inter Light" pitchFamily="34" charset="0"/>
                <a:ea typeface="Inter Light" pitchFamily="34" charset="-122"/>
                <a:cs typeface="Inter Light" pitchFamily="34" charset="-120"/>
              </a:rPr>
              <a:t>Leading-edge use of </a:t>
            </a:r>
            <a:r>
              <a:rPr lang="en-US" sz="950" dirty="0">
                <a:solidFill>
                  <a:srgbClr val="1992D4"/>
                </a:solidFill>
                <a:latin typeface="Inter Light" pitchFamily="34" charset="0"/>
                <a:ea typeface="Inter Light" pitchFamily="34" charset="-122"/>
                <a:cs typeface="Inter Light" pitchFamily="34" charset="-120"/>
              </a:rPr>
              <a:t>Agentic Generative AI</a:t>
            </a:r>
            <a:r>
              <a:rPr lang="en-US" sz="900" b="1" dirty="0">
                <a:solidFill>
                  <a:srgbClr val="334E68"/>
                </a:solidFill>
                <a:latin typeface="Inter Light" pitchFamily="34" charset="0"/>
                <a:ea typeface="Inter Light" pitchFamily="34" charset="-122"/>
                <a:cs typeface="Inter Light" pitchFamily="34" charset="-120"/>
              </a:rPr>
              <a:t> to bridge the gap </a:t>
            </a:r>
            <a:r>
              <a:rPr lang="en-US" sz="900" b="1" dirty="0">
                <a:solidFill>
                  <a:srgbClr val="334E68"/>
                </a:solidFill>
                <a:latin typeface="Inter Light" pitchFamily="34" charset="0"/>
                <a:ea typeface="Inter Light" pitchFamily="34" charset="-122"/>
                <a:cs typeface="Inter Light" pitchFamily="34" charset="-120"/>
              </a:rPr>
              <a:t>between data and interpretation.</a:t>
            </a:r>
            <a:endParaRPr lang="en-US" sz="900" dirty="0"/>
          </a:p>
        </p:txBody>
      </p:sp>
      <p:sp>
        <p:nvSpPr>
          <p:cNvPr id="23" name="Text 19"/>
          <p:cNvSpPr/>
          <p:nvPr/>
        </p:nvSpPr>
        <p:spPr>
          <a:xfrm>
            <a:off x="614363" y="3152180"/>
            <a:ext cx="3686175"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03 // GOVERNANCE</a:t>
            </a:r>
            <a:endParaRPr lang="en-US" sz="750" dirty="0"/>
          </a:p>
        </p:txBody>
      </p:sp>
      <p:sp>
        <p:nvSpPr>
          <p:cNvPr id="24" name="Text 20"/>
          <p:cNvSpPr/>
          <p:nvPr/>
        </p:nvSpPr>
        <p:spPr>
          <a:xfrm>
            <a:off x="614363" y="3498066"/>
            <a:ext cx="3686175" cy="226814"/>
          </a:xfrm>
          <a:prstGeom prst="rect">
            <a:avLst/>
          </a:prstGeom>
          <a:noFill/>
          <a:ln/>
        </p:spPr>
        <p:txBody>
          <a:bodyPr wrap="square" lIns="0" tIns="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HUMAN-CENTRIC</a:t>
            </a:r>
            <a:endParaRPr lang="en-US" sz="1200" dirty="0"/>
          </a:p>
        </p:txBody>
      </p:sp>
      <p:sp>
        <p:nvSpPr>
          <p:cNvPr id="25" name="Text 21"/>
          <p:cNvSpPr/>
          <p:nvPr/>
        </p:nvSpPr>
        <p:spPr>
          <a:xfrm>
            <a:off x="614363" y="3960623"/>
            <a:ext cx="3686175"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Commitment to </a:t>
            </a:r>
            <a:r>
              <a:rPr lang="en-US" sz="950" dirty="0">
                <a:solidFill>
                  <a:srgbClr val="1992D4"/>
                </a:solidFill>
                <a:latin typeface="Inter Light" pitchFamily="34" charset="0"/>
                <a:ea typeface="Inter Light" pitchFamily="34" charset="-122"/>
                <a:cs typeface="Inter Light" pitchFamily="34" charset="-120"/>
              </a:rPr>
              <a:t>human-in-the-loop</a:t>
            </a:r>
            <a:r>
              <a:rPr lang="en-US" sz="950" dirty="0">
                <a:solidFill>
                  <a:srgbClr val="334E68"/>
                </a:solidFill>
                <a:latin typeface="Inter Light" pitchFamily="34" charset="0"/>
                <a:ea typeface="Inter Light" pitchFamily="34" charset="-122"/>
                <a:cs typeface="Inter Light" pitchFamily="34" charset="-120"/>
              </a:rPr>
              <a:t> systems and explainable </a:t>
            </a:r>
            <a:r>
              <a:rPr lang="en-US" sz="950" dirty="0">
                <a:solidFill>
                  <a:srgbClr val="334E68"/>
                </a:solidFill>
                <a:latin typeface="Inter Light" pitchFamily="34" charset="0"/>
                <a:ea typeface="Inter Light" pitchFamily="34" charset="-122"/>
                <a:cs typeface="Inter Light" pitchFamily="34" charset="-120"/>
              </a:rPr>
              <a:t>AI as a core product feature.</a:t>
            </a:r>
            <a:endParaRPr lang="en-US" sz="950" dirty="0"/>
          </a:p>
        </p:txBody>
      </p:sp>
      <p:sp>
        <p:nvSpPr>
          <p:cNvPr id="26" name="Text 22"/>
          <p:cNvSpPr/>
          <p:nvPr/>
        </p:nvSpPr>
        <p:spPr>
          <a:xfrm>
            <a:off x="4843463" y="3152180"/>
            <a:ext cx="3686175" cy="132159"/>
          </a:xfrm>
          <a:prstGeom prst="rect">
            <a:avLst/>
          </a:prstGeom>
          <a:noFill/>
          <a:ln/>
        </p:spPr>
        <p:txBody>
          <a:bodyPr wrap="square" lIns="0" tIns="0" rIns="0" bIns="0" rtlCol="0" anchor="t">
            <a:spAutoFit/>
          </a:bodyPr>
          <a:lstStyle/>
          <a:p>
            <a:pPr algn="l" indent="0" marL="0">
              <a:buNone/>
            </a:pPr>
            <a:r>
              <a:rPr lang="en-US" sz="750" dirty="0">
                <a:solidFill>
                  <a:srgbClr val="D64545"/>
                </a:solidFill>
                <a:latin typeface="Roboto Mono Medium" pitchFamily="34" charset="0"/>
                <a:ea typeface="Roboto Mono Medium" pitchFamily="34" charset="-122"/>
                <a:cs typeface="Roboto Mono Medium" pitchFamily="34" charset="-120"/>
              </a:rPr>
              <a:t>04 // VISION</a:t>
            </a:r>
            <a:endParaRPr lang="en-US" sz="750" dirty="0"/>
          </a:p>
        </p:txBody>
      </p:sp>
      <p:sp>
        <p:nvSpPr>
          <p:cNvPr id="27" name="Text 23"/>
          <p:cNvSpPr/>
          <p:nvPr/>
        </p:nvSpPr>
        <p:spPr>
          <a:xfrm>
            <a:off x="4843463" y="3498066"/>
            <a:ext cx="3686175" cy="226814"/>
          </a:xfrm>
          <a:prstGeom prst="rect">
            <a:avLst/>
          </a:prstGeom>
          <a:noFill/>
          <a:ln/>
        </p:spPr>
        <p:txBody>
          <a:bodyPr wrap="square" lIns="0" tIns="0" rIns="0" bIns="0" rtlCol="0" anchor="t">
            <a:spAutoFit/>
          </a:bodyPr>
          <a:lstStyle/>
          <a:p>
            <a:pPr algn="l" indent="0" marL="0">
              <a:buNone/>
            </a:pPr>
            <a:r>
              <a:rPr lang="en-US" sz="1200" b="1" dirty="0">
                <a:solidFill>
                  <a:srgbClr val="102A43"/>
                </a:solidFill>
                <a:latin typeface="Roboto Mono Medium" pitchFamily="34" charset="0"/>
                <a:ea typeface="Roboto Mono Medium" pitchFamily="34" charset="-122"/>
                <a:cs typeface="Roboto Mono Medium" pitchFamily="34" charset="-120"/>
              </a:rPr>
              <a:t>MARKET LEADERSHIP</a:t>
            </a:r>
            <a:endParaRPr lang="en-US" sz="1200" dirty="0"/>
          </a:p>
        </p:txBody>
      </p:sp>
      <p:sp>
        <p:nvSpPr>
          <p:cNvPr id="28" name="Text 24"/>
          <p:cNvSpPr/>
          <p:nvPr/>
        </p:nvSpPr>
        <p:spPr>
          <a:xfrm>
            <a:off x="4843463" y="3960623"/>
            <a:ext cx="3686175" cy="360034"/>
          </a:xfrm>
          <a:prstGeom prst="rect">
            <a:avLst/>
          </a:prstGeom>
          <a:noFill/>
          <a:ln/>
        </p:spPr>
        <p:txBody>
          <a:bodyPr wrap="square" lIns="0" tIns="0" rIns="0" bIns="0" rtlCol="0" anchor="t">
            <a:spAutoFit/>
          </a:bodyPr>
          <a:lstStyle/>
          <a:p>
            <a:pPr algn="l" indent="0" marL="0">
              <a:lnSpc>
                <a:spcPct val="112000"/>
              </a:lnSpc>
              <a:buNone/>
            </a:pPr>
            <a:r>
              <a:rPr lang="en-US" sz="950" dirty="0">
                <a:solidFill>
                  <a:srgbClr val="334E68"/>
                </a:solidFill>
                <a:latin typeface="Inter Light" pitchFamily="34" charset="0"/>
                <a:ea typeface="Inter Light" pitchFamily="34" charset="-122"/>
                <a:cs typeface="Inter Light" pitchFamily="34" charset="-120"/>
              </a:rPr>
              <a:t>Capturing the </a:t>
            </a:r>
            <a:r>
              <a:rPr lang="en-US" sz="950" dirty="0">
                <a:solidFill>
                  <a:srgbClr val="1992D4"/>
                </a:solidFill>
                <a:latin typeface="Inter Light" pitchFamily="34" charset="0"/>
                <a:ea typeface="Inter Light" pitchFamily="34" charset="-122"/>
                <a:cs typeface="Inter Light" pitchFamily="34" charset="-120"/>
              </a:rPr>
              <a:t>$300B FWA opportunity</a:t>
            </a:r>
            <a:r>
              <a:rPr lang="en-US" sz="950" dirty="0">
                <a:solidFill>
                  <a:srgbClr val="334E68"/>
                </a:solidFill>
                <a:latin typeface="Inter Light" pitchFamily="34" charset="0"/>
                <a:ea typeface="Inter Light" pitchFamily="34" charset="-122"/>
                <a:cs typeface="Inter Light" pitchFamily="34" charset="-120"/>
              </a:rPr>
              <a:t> without the legal </a:t>
            </a:r>
            <a:r>
              <a:rPr lang="en-US" sz="950" dirty="0">
                <a:solidFill>
                  <a:srgbClr val="334E68"/>
                </a:solidFill>
                <a:latin typeface="Inter Light" pitchFamily="34" charset="0"/>
                <a:ea typeface="Inter Light" pitchFamily="34" charset="-122"/>
                <a:cs typeface="Inter Light" pitchFamily="34" charset="-120"/>
              </a:rPr>
              <a:t>exposure of "black-box" legacy systems.</a:t>
            </a:r>
            <a:endParaRPr lang="en-US" sz="950" dirty="0"/>
          </a:p>
        </p:txBody>
      </p:sp>
      <p:sp>
        <p:nvSpPr>
          <p:cNvPr id="29" name="Text 25"/>
          <p:cNvSpPr/>
          <p:nvPr/>
        </p:nvSpPr>
        <p:spPr>
          <a:xfrm>
            <a:off x="428625" y="4816673"/>
            <a:ext cx="2589609" cy="112514"/>
          </a:xfrm>
          <a:prstGeom prst="rect">
            <a:avLst/>
          </a:prstGeom>
          <a:noFill/>
          <a:ln/>
        </p:spPr>
        <p:txBody>
          <a:bodyPr wrap="square" lIns="0" tIns="0" rIns="0" bIns="0" rtlCol="0" anchor="t">
            <a:spAutoFit/>
          </a:bodyPr>
          <a:lstStyle/>
          <a:p>
            <a:pPr algn="l" indent="0" marL="0">
              <a:buNone/>
            </a:pPr>
            <a:r>
              <a:rPr lang="en-US" sz="600" dirty="0">
                <a:solidFill>
                  <a:srgbClr val="102A43">
                    <a:alpha val="50000"/>
                  </a:srgbClr>
                </a:solidFill>
                <a:latin typeface="Roboto Mono Medium" pitchFamily="34" charset="0"/>
                <a:ea typeface="Roboto Mono Medium" pitchFamily="34" charset="-122"/>
                <a:cs typeface="Roboto Mono Medium" pitchFamily="34" charset="-120"/>
              </a:rPr>
              <a:t>COGNIVITI: THE FUTURE OF PAYMENT INTEGRITY // 2026</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42875" y="285750"/>
            <a:ext cx="285750" cy="7144"/>
          </a:xfrm>
          <a:prstGeom prst="rect">
            <a:avLst/>
          </a:prstGeom>
          <a:solidFill>
            <a:srgbClr val="102A43"/>
          </a:solidFill>
          <a:ln/>
        </p:spPr>
      </p:sp>
      <p:sp>
        <p:nvSpPr>
          <p:cNvPr id="5" name="Shape 1"/>
          <p:cNvSpPr/>
          <p:nvPr/>
        </p:nvSpPr>
        <p:spPr>
          <a:xfrm>
            <a:off x="285750" y="142875"/>
            <a:ext cx="7144" cy="285750"/>
          </a:xfrm>
          <a:prstGeom prst="rect">
            <a:avLst/>
          </a:prstGeom>
          <a:solidFill>
            <a:srgbClr val="102A43"/>
          </a:solidFill>
          <a:ln/>
        </p:spPr>
      </p:sp>
      <p:sp>
        <p:nvSpPr>
          <p:cNvPr id="6" name="Text 2"/>
          <p:cNvSpPr/>
          <p:nvPr/>
        </p:nvSpPr>
        <p:spPr>
          <a:xfrm>
            <a:off x="1428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7" name="Shape 3"/>
          <p:cNvSpPr/>
          <p:nvPr/>
        </p:nvSpPr>
        <p:spPr>
          <a:xfrm>
            <a:off x="8715375" y="285750"/>
            <a:ext cx="285750" cy="7144"/>
          </a:xfrm>
          <a:prstGeom prst="rect">
            <a:avLst/>
          </a:prstGeom>
          <a:solidFill>
            <a:srgbClr val="102A43"/>
          </a:solidFill>
          <a:ln/>
        </p:spPr>
      </p:sp>
      <p:sp>
        <p:nvSpPr>
          <p:cNvPr id="8" name="Shape 4"/>
          <p:cNvSpPr/>
          <p:nvPr/>
        </p:nvSpPr>
        <p:spPr>
          <a:xfrm>
            <a:off x="8858250" y="142875"/>
            <a:ext cx="7144" cy="285750"/>
          </a:xfrm>
          <a:prstGeom prst="rect">
            <a:avLst/>
          </a:prstGeom>
          <a:solidFill>
            <a:srgbClr val="102A43"/>
          </a:solidFill>
          <a:ln/>
        </p:spPr>
      </p:sp>
      <p:sp>
        <p:nvSpPr>
          <p:cNvPr id="9" name="Text 5"/>
          <p:cNvSpPr/>
          <p:nvPr/>
        </p:nvSpPr>
        <p:spPr>
          <a:xfrm>
            <a:off x="8715375" y="142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0" name="Shape 6"/>
          <p:cNvSpPr/>
          <p:nvPr/>
        </p:nvSpPr>
        <p:spPr>
          <a:xfrm>
            <a:off x="142875" y="4857750"/>
            <a:ext cx="285750" cy="7144"/>
          </a:xfrm>
          <a:prstGeom prst="rect">
            <a:avLst/>
          </a:prstGeom>
          <a:solidFill>
            <a:srgbClr val="102A43"/>
          </a:solidFill>
          <a:ln/>
        </p:spPr>
      </p:sp>
      <p:sp>
        <p:nvSpPr>
          <p:cNvPr id="11" name="Shape 7"/>
          <p:cNvSpPr/>
          <p:nvPr/>
        </p:nvSpPr>
        <p:spPr>
          <a:xfrm>
            <a:off x="285750" y="4714875"/>
            <a:ext cx="7144" cy="285750"/>
          </a:xfrm>
          <a:prstGeom prst="rect">
            <a:avLst/>
          </a:prstGeom>
          <a:solidFill>
            <a:srgbClr val="102A43"/>
          </a:solidFill>
          <a:ln/>
        </p:spPr>
      </p:sp>
      <p:sp>
        <p:nvSpPr>
          <p:cNvPr id="12" name="Text 8"/>
          <p:cNvSpPr/>
          <p:nvPr/>
        </p:nvSpPr>
        <p:spPr>
          <a:xfrm>
            <a:off x="1428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3" name="Shape 9"/>
          <p:cNvSpPr/>
          <p:nvPr/>
        </p:nvSpPr>
        <p:spPr>
          <a:xfrm>
            <a:off x="8715375" y="4857750"/>
            <a:ext cx="285750" cy="7144"/>
          </a:xfrm>
          <a:prstGeom prst="rect">
            <a:avLst/>
          </a:prstGeom>
          <a:solidFill>
            <a:srgbClr val="102A43"/>
          </a:solidFill>
          <a:ln/>
        </p:spPr>
      </p:sp>
      <p:sp>
        <p:nvSpPr>
          <p:cNvPr id="14" name="Shape 10"/>
          <p:cNvSpPr/>
          <p:nvPr/>
        </p:nvSpPr>
        <p:spPr>
          <a:xfrm>
            <a:off x="8858250" y="4714875"/>
            <a:ext cx="7144" cy="285750"/>
          </a:xfrm>
          <a:prstGeom prst="rect">
            <a:avLst/>
          </a:prstGeom>
          <a:solidFill>
            <a:srgbClr val="102A43"/>
          </a:solidFill>
          <a:ln/>
        </p:spPr>
      </p:sp>
      <p:sp>
        <p:nvSpPr>
          <p:cNvPr id="15" name="Text 11"/>
          <p:cNvSpPr/>
          <p:nvPr/>
        </p:nvSpPr>
        <p:spPr>
          <a:xfrm>
            <a:off x="8715375" y="4714875"/>
            <a:ext cx="285750" cy="285750"/>
          </a:xfrm>
          <a:prstGeom prst="rect">
            <a:avLst/>
          </a:prstGeom>
          <a:noFill/>
          <a:ln/>
        </p:spPr>
        <p:txBody>
          <a:bodyPr wrap="none" lIns="0" tIns="0" rIns="0" bIns="0" rtlCol="0" anchor="t">
            <a:spAutoFit/>
          </a:bodyPr>
          <a:lstStyle/>
          <a:p>
            <a:pPr algn="l" indent="0" marL="0">
              <a:buNone/>
            </a:pPr>
            <a:endParaRPr lang="en-US" dirty="0"/>
          </a:p>
        </p:txBody>
      </p:sp>
      <p:sp>
        <p:nvSpPr>
          <p:cNvPr id="16" name="Shape 12"/>
          <p:cNvSpPr/>
          <p:nvPr/>
        </p:nvSpPr>
        <p:spPr>
          <a:xfrm>
            <a:off x="635794" y="707231"/>
            <a:ext cx="7872413" cy="3729038"/>
          </a:xfrm>
          <a:prstGeom prst="rect">
            <a:avLst/>
          </a:prstGeom>
          <a:solidFill>
            <a:srgbClr val="000000">
              <a:alpha val="0"/>
            </a:srgbClr>
          </a:solidFill>
          <a:ln w="9144">
            <a:solidFill>
              <a:srgbClr val="102A43"/>
            </a:solidFill>
            <a:prstDash val="solid"/>
          </a:ln>
        </p:spPr>
      </p:sp>
      <p:sp>
        <p:nvSpPr>
          <p:cNvPr id="17" name="Text 13"/>
          <p:cNvSpPr/>
          <p:nvPr/>
        </p:nvSpPr>
        <p:spPr>
          <a:xfrm>
            <a:off x="1297763" y="1435001"/>
            <a:ext cx="2411016" cy="601861"/>
          </a:xfrm>
          <a:prstGeom prst="rect">
            <a:avLst/>
          </a:prstGeom>
          <a:noFill/>
          <a:ln/>
        </p:spPr>
        <p:txBody>
          <a:bodyPr wrap="square" lIns="0" tIns="0" rIns="0" bIns="0" rtlCol="0" anchor="t">
            <a:spAutoFit/>
          </a:bodyPr>
          <a:lstStyle/>
          <a:p>
            <a:pPr algn="l" indent="0" marL="0">
              <a:buNone/>
            </a:pPr>
            <a:r>
              <a:rPr lang="en-US" sz="3500" spc="-1" kern="0" dirty="0">
                <a:solidFill>
                  <a:srgbClr val="102A43"/>
                </a:solidFill>
                <a:latin typeface="Roboto Mono Medium" pitchFamily="34" charset="0"/>
                <a:ea typeface="Roboto Mono Medium" pitchFamily="34" charset="-122"/>
                <a:cs typeface="Roboto Mono Medium" pitchFamily="34" charset="-120"/>
              </a:rPr>
              <a:t>THANK YOU</a:t>
            </a:r>
            <a:endParaRPr lang="en-US" sz="3500" dirty="0"/>
          </a:p>
        </p:txBody>
      </p:sp>
      <p:sp>
        <p:nvSpPr>
          <p:cNvPr id="18" name="Text 14"/>
          <p:cNvSpPr/>
          <p:nvPr/>
        </p:nvSpPr>
        <p:spPr>
          <a:xfrm>
            <a:off x="1297763" y="2608362"/>
            <a:ext cx="1450181" cy="226814"/>
          </a:xfrm>
          <a:prstGeom prst="rect">
            <a:avLst/>
          </a:prstGeom>
          <a:noFill/>
          <a:ln/>
        </p:spPr>
        <p:txBody>
          <a:bodyPr wrap="square" lIns="0" tIns="0" rIns="0" bIns="0" rtlCol="0" anchor="t">
            <a:spAutoFit/>
          </a:bodyPr>
          <a:lstStyle/>
          <a:p>
            <a:pPr algn="l" indent="0" marL="0">
              <a:buNone/>
            </a:pPr>
            <a:r>
              <a:rPr lang="en-US" sz="1250" dirty="0">
                <a:solidFill>
                  <a:srgbClr val="1992D4"/>
                </a:solidFill>
                <a:latin typeface="Roboto Mono Medium" pitchFamily="34" charset="0"/>
                <a:ea typeface="Roboto Mono Medium" pitchFamily="34" charset="-122"/>
                <a:cs typeface="Roboto Mono Medium" pitchFamily="34" charset="-120"/>
              </a:rPr>
              <a:t>Sudip Manchare</a:t>
            </a:r>
            <a:endParaRPr lang="en-US" sz="1250" dirty="0"/>
          </a:p>
        </p:txBody>
      </p:sp>
      <p:sp>
        <p:nvSpPr>
          <p:cNvPr id="19" name="Text 15"/>
          <p:cNvSpPr/>
          <p:nvPr/>
        </p:nvSpPr>
        <p:spPr>
          <a:xfrm>
            <a:off x="1297763" y="3020913"/>
            <a:ext cx="1689497" cy="169664"/>
          </a:xfrm>
          <a:prstGeom prst="rect">
            <a:avLst/>
          </a:prstGeom>
          <a:noFill/>
          <a:ln/>
        </p:spPr>
        <p:txBody>
          <a:bodyPr wrap="square" lIns="0" tIns="0" rIns="0" bIns="0" rtlCol="0" anchor="t">
            <a:spAutoFit/>
          </a:bodyPr>
          <a:lstStyle/>
          <a:p>
            <a:pPr algn="l" indent="0" marL="0">
              <a:buNone/>
            </a:pPr>
            <a:r>
              <a:rPr lang="en-US" sz="950" dirty="0">
                <a:solidFill>
                  <a:srgbClr val="334E68"/>
                </a:solidFill>
                <a:latin typeface="Roboto Mono Medium" pitchFamily="34" charset="0"/>
                <a:ea typeface="Roboto Mono Medium" pitchFamily="34" charset="-122"/>
                <a:cs typeface="Roboto Mono Medium" pitchFamily="34" charset="-120"/>
              </a:rPr>
              <a:t>Owner &amp; Lead Architect</a:t>
            </a:r>
            <a:endParaRPr lang="en-US" sz="950" dirty="0"/>
          </a:p>
        </p:txBody>
      </p:sp>
      <p:sp>
        <p:nvSpPr>
          <p:cNvPr id="20" name="Text 16"/>
          <p:cNvSpPr/>
          <p:nvPr/>
        </p:nvSpPr>
        <p:spPr>
          <a:xfrm>
            <a:off x="1297763" y="3533477"/>
            <a:ext cx="6548447" cy="460772"/>
          </a:xfrm>
          <a:prstGeom prst="rect">
            <a:avLst/>
          </a:prstGeom>
          <a:noFill/>
          <a:ln/>
        </p:spPr>
        <p:txBody>
          <a:bodyPr wrap="square" lIns="0" tIns="170053" rIns="0" bIns="0" rtlCol="0" anchor="t">
            <a:spAutoFit/>
          </a:bodyPr>
          <a:lstStyle/>
          <a:p>
            <a:pPr algn="l" indent="0" marL="0">
              <a:buNone/>
            </a:pPr>
            <a:r>
              <a:rPr lang="en-US" sz="900" b="1" dirty="0">
                <a:solidFill>
                  <a:srgbClr val="334E68"/>
                </a:solidFill>
                <a:latin typeface="Inter Light" pitchFamily="34" charset="0"/>
                <a:ea typeface="Inter Light" pitchFamily="34" charset="-122"/>
                <a:cs typeface="Inter Light" pitchFamily="34" charset="-120"/>
              </a:rPr>
              <a:t>Hackathon POC:</a:t>
            </a:r>
            <a:r>
              <a:rPr lang="en-US" sz="950" dirty="0">
                <a:solidFill>
                  <a:srgbClr val="334E68"/>
                </a:solidFill>
                <a:latin typeface="Inter Light" pitchFamily="34" charset="0"/>
                <a:ea typeface="Inter Light" pitchFamily="34" charset="-122"/>
                <a:cs typeface="Inter Light" pitchFamily="34" charset="-120"/>
              </a:rPr>
              <a:t> Clinical Decision Making and Pattern Recognition in Health Care</a:t>
            </a:r>
            <a:r>
              <a:rPr lang="en-US" sz="950" dirty="0">
                <a:solidFill>
                  <a:srgbClr val="334E68"/>
                </a:solidFill>
                <a:latin typeface="Inter Light" pitchFamily="34" charset="0"/>
                <a:ea typeface="Inter Light" pitchFamily="34" charset="-122"/>
                <a:cs typeface="Inter Light" pitchFamily="34" charset="-120"/>
              </a:rPr>
              <a:t>
</a:t>
            </a:r>
            <a:r>
              <a:rPr lang="en-US" sz="950" i="1" dirty="0">
                <a:solidFill>
                  <a:srgbClr val="334E68"/>
                </a:solidFill>
                <a:latin typeface="Inter" pitchFamily="34" charset="0"/>
                <a:ea typeface="Inter" pitchFamily="34" charset="-122"/>
                <a:cs typeface="Inter" pitchFamily="34" charset="-120"/>
              </a:rPr>
              <a:t>Cotiviti Intern Assessment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2026-06-26T06:01:57Z</dcterms:created>
  <dcterms:modified xsi:type="dcterms:W3CDTF">2026-06-26T06:01:57Z</dcterms:modified>
</cp:coreProperties>
</file>